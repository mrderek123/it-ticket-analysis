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9" r:id="rId11"/>
    <p:sldId id="271" r:id="rId12"/>
    <p:sldId id="272" r:id="rId13"/>
    <p:sldId id="280" r:id="rId14"/>
    <p:sldId id="273" r:id="rId15"/>
    <p:sldId id="281" r:id="rId16"/>
    <p:sldId id="274" r:id="rId17"/>
    <p:sldId id="275" r:id="rId18"/>
    <p:sldId id="276" r:id="rId19"/>
    <p:sldId id="269" r:id="rId20"/>
    <p:sldId id="277" r:id="rId21"/>
    <p:sldId id="278" r:id="rId22"/>
    <p:sldId id="282" r:id="rId2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06CEE8CD1100606/Documents/excel%20file%20updated.xlsm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updated.xlsm]Sheet20!PivotTable3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Count of ticket id by time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14"/>
          <c:spPr>
            <a:solidFill>
              <a:schemeClr val="accent1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rgbClr val="4472C4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14"/>
          <c:spPr>
            <a:solidFill>
              <a:schemeClr val="accent1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rgbClr val="4472C4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14"/>
          <c:spPr>
            <a:solidFill>
              <a:schemeClr val="accent1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rgbClr val="4472C4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Sheet20!$C$8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338956E2-A388-45CD-B0AE-900D66502744}" type="VALUE">
                      <a:rPr lang="en-US"/>
                      <a:pPr/>
                      <a:t>[VALUE]</a:t>
                    </a:fld>
                    <a:endParaRPr lang="en-I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7E1-4E60-8B39-C57A590817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Sheet20!$B$9:$B$14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Sheet20!$C$9:$C$14</c:f>
              <c:numCache>
                <c:formatCode>General</c:formatCode>
                <c:ptCount val="5"/>
                <c:pt idx="0">
                  <c:v>13051</c:v>
                </c:pt>
                <c:pt idx="1">
                  <c:v>14915</c:v>
                </c:pt>
                <c:pt idx="2">
                  <c:v>18954</c:v>
                </c:pt>
                <c:pt idx="3">
                  <c:v>21490</c:v>
                </c:pt>
                <c:pt idx="4">
                  <c:v>29088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E1-4E60-8B39-C57A590817F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804720"/>
        <c:axId val="1582785695"/>
      </c:lineChart>
      <c:catAx>
        <c:axId val="980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2785695"/>
        <c:crosses val="autoZero"/>
        <c:auto val="1"/>
        <c:lblAlgn val="ctr"/>
        <c:lblOffset val="100"/>
        <c:noMultiLvlLbl val="0"/>
      </c:catAx>
      <c:valAx>
        <c:axId val="1582785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0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updated.xlsm]Sheet3!PivotTable21</c:name>
    <c:fmtId val="10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220134983127107"/>
          <c:y val="7.990353339672919E-2"/>
          <c:w val="0.77175093738282718"/>
          <c:h val="0.79786636150515711"/>
        </c:manualLayout>
      </c:layout>
      <c:lineChart>
        <c:grouping val="stacked"/>
        <c:varyColors val="0"/>
        <c:ser>
          <c:idx val="0"/>
          <c:order val="0"/>
          <c:tx>
            <c:strRef>
              <c:f>Sheet3!$B$1:$B$2</c:f>
              <c:strCache>
                <c:ptCount val="1"/>
                <c:pt idx="0">
                  <c:v>Jan</c:v>
                </c:pt>
              </c:strCache>
            </c:strRef>
          </c:tx>
          <c:spPr>
            <a:ln w="38100" cap="flat" cmpd="dbl" algn="ctr">
              <a:solidFill>
                <a:schemeClr val="accent1"/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Sheet3!$B$3:$B$8</c:f>
              <c:numCache>
                <c:formatCode>General</c:formatCode>
                <c:ptCount val="5"/>
                <c:pt idx="0">
                  <c:v>1115</c:v>
                </c:pt>
                <c:pt idx="1">
                  <c:v>1125</c:v>
                </c:pt>
                <c:pt idx="2">
                  <c:v>1289</c:v>
                </c:pt>
                <c:pt idx="3">
                  <c:v>1522</c:v>
                </c:pt>
                <c:pt idx="4">
                  <c:v>2191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CF-4EEC-BE86-35E3E499215A}"/>
            </c:ext>
          </c:extLst>
        </c:ser>
        <c:ser>
          <c:idx val="1"/>
          <c:order val="1"/>
          <c:tx>
            <c:strRef>
              <c:f>Sheet3!$C$1:$C$2</c:f>
              <c:strCache>
                <c:ptCount val="1"/>
                <c:pt idx="0">
                  <c:v>Feb</c:v>
                </c:pt>
              </c:strCache>
            </c:strRef>
          </c:tx>
          <c:spPr>
            <a:ln w="38100" cap="flat" cmpd="dbl" algn="ctr">
              <a:solidFill>
                <a:schemeClr val="accent2"/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Sheet3!$C$3:$C$8</c:f>
              <c:numCache>
                <c:formatCode>General</c:formatCode>
                <c:ptCount val="5"/>
                <c:pt idx="0">
                  <c:v>1056</c:v>
                </c:pt>
                <c:pt idx="1">
                  <c:v>1151</c:v>
                </c:pt>
                <c:pt idx="2">
                  <c:v>1507</c:v>
                </c:pt>
                <c:pt idx="3">
                  <c:v>1746</c:v>
                </c:pt>
                <c:pt idx="4">
                  <c:v>2441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CF-4EEC-BE86-35E3E499215A}"/>
            </c:ext>
          </c:extLst>
        </c:ser>
        <c:ser>
          <c:idx val="2"/>
          <c:order val="2"/>
          <c:tx>
            <c:strRef>
              <c:f>Sheet3!$D$1:$D$2</c:f>
              <c:strCache>
                <c:ptCount val="1"/>
                <c:pt idx="0">
                  <c:v>Mar</c:v>
                </c:pt>
              </c:strCache>
            </c:strRef>
          </c:tx>
          <c:spPr>
            <a:ln w="38100" cap="flat" cmpd="dbl" algn="ctr">
              <a:solidFill>
                <a:schemeClr val="accent3"/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Sheet3!$D$3:$D$8</c:f>
              <c:numCache>
                <c:formatCode>General</c:formatCode>
                <c:ptCount val="5"/>
                <c:pt idx="0">
                  <c:v>1105</c:v>
                </c:pt>
                <c:pt idx="1">
                  <c:v>1283</c:v>
                </c:pt>
                <c:pt idx="2">
                  <c:v>1470</c:v>
                </c:pt>
                <c:pt idx="3">
                  <c:v>1846</c:v>
                </c:pt>
                <c:pt idx="4">
                  <c:v>2524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CF-4EEC-BE86-35E3E499215A}"/>
            </c:ext>
          </c:extLst>
        </c:ser>
        <c:ser>
          <c:idx val="3"/>
          <c:order val="3"/>
          <c:tx>
            <c:strRef>
              <c:f>Sheet3!$E$1:$E$2</c:f>
              <c:strCache>
                <c:ptCount val="1"/>
                <c:pt idx="0">
                  <c:v>Apr</c:v>
                </c:pt>
              </c:strCache>
            </c:strRef>
          </c:tx>
          <c:spPr>
            <a:ln w="38100" cap="flat" cmpd="dbl" algn="ctr">
              <a:solidFill>
                <a:schemeClr val="accent4"/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Sheet3!$E$3:$E$8</c:f>
              <c:numCache>
                <c:formatCode>General</c:formatCode>
                <c:ptCount val="5"/>
                <c:pt idx="0">
                  <c:v>1054</c:v>
                </c:pt>
                <c:pt idx="1">
                  <c:v>1245</c:v>
                </c:pt>
                <c:pt idx="2">
                  <c:v>1627</c:v>
                </c:pt>
                <c:pt idx="3">
                  <c:v>1598</c:v>
                </c:pt>
                <c:pt idx="4">
                  <c:v>2413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CF-4EEC-BE86-35E3E499215A}"/>
            </c:ext>
          </c:extLst>
        </c:ser>
        <c:ser>
          <c:idx val="4"/>
          <c:order val="4"/>
          <c:tx>
            <c:strRef>
              <c:f>Sheet3!$F$1:$F$2</c:f>
              <c:strCache>
                <c:ptCount val="1"/>
                <c:pt idx="0">
                  <c:v>May</c:v>
                </c:pt>
              </c:strCache>
            </c:strRef>
          </c:tx>
          <c:spPr>
            <a:ln w="38100" cap="flat" cmpd="dbl" algn="ctr">
              <a:solidFill>
                <a:schemeClr val="accent5"/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Sheet3!$F$3:$F$8</c:f>
              <c:numCache>
                <c:formatCode>General</c:formatCode>
                <c:ptCount val="5"/>
                <c:pt idx="0">
                  <c:v>1160</c:v>
                </c:pt>
                <c:pt idx="1">
                  <c:v>1345</c:v>
                </c:pt>
                <c:pt idx="2">
                  <c:v>1653</c:v>
                </c:pt>
                <c:pt idx="3">
                  <c:v>1734</c:v>
                </c:pt>
                <c:pt idx="4">
                  <c:v>2229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6CF-4EEC-BE86-35E3E499215A}"/>
            </c:ext>
          </c:extLst>
        </c:ser>
        <c:ser>
          <c:idx val="5"/>
          <c:order val="5"/>
          <c:tx>
            <c:strRef>
              <c:f>Sheet3!$G$1:$G$2</c:f>
              <c:strCache>
                <c:ptCount val="1"/>
                <c:pt idx="0">
                  <c:v>Jun</c:v>
                </c:pt>
              </c:strCache>
            </c:strRef>
          </c:tx>
          <c:spPr>
            <a:ln w="38100" cap="flat" cmpd="dbl" algn="ctr">
              <a:solidFill>
                <a:schemeClr val="accent6"/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Sheet3!$G$3:$G$8</c:f>
              <c:numCache>
                <c:formatCode>General</c:formatCode>
                <c:ptCount val="5"/>
                <c:pt idx="0">
                  <c:v>1051</c:v>
                </c:pt>
                <c:pt idx="1">
                  <c:v>1244</c:v>
                </c:pt>
                <c:pt idx="2">
                  <c:v>1656</c:v>
                </c:pt>
                <c:pt idx="3">
                  <c:v>1820</c:v>
                </c:pt>
                <c:pt idx="4">
                  <c:v>2370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6CF-4EEC-BE86-35E3E499215A}"/>
            </c:ext>
          </c:extLst>
        </c:ser>
        <c:ser>
          <c:idx val="6"/>
          <c:order val="6"/>
          <c:tx>
            <c:strRef>
              <c:f>Sheet3!$H$1:$H$2</c:f>
              <c:strCache>
                <c:ptCount val="1"/>
                <c:pt idx="0">
                  <c:v>Jul</c:v>
                </c:pt>
              </c:strCache>
            </c:strRef>
          </c:tx>
          <c:spPr>
            <a:ln w="38100" cap="flat" cmpd="dbl" algn="ctr">
              <a:solidFill>
                <a:schemeClr val="accent1">
                  <a:lumMod val="60000"/>
                </a:schemeClr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Sheet3!$H$3:$H$8</c:f>
              <c:numCache>
                <c:formatCode>General</c:formatCode>
                <c:ptCount val="5"/>
                <c:pt idx="0">
                  <c:v>1101</c:v>
                </c:pt>
                <c:pt idx="1">
                  <c:v>1233</c:v>
                </c:pt>
                <c:pt idx="2">
                  <c:v>1620</c:v>
                </c:pt>
                <c:pt idx="3">
                  <c:v>1885</c:v>
                </c:pt>
                <c:pt idx="4">
                  <c:v>2231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6CF-4EEC-BE86-35E3E499215A}"/>
            </c:ext>
          </c:extLst>
        </c:ser>
        <c:ser>
          <c:idx val="7"/>
          <c:order val="7"/>
          <c:tx>
            <c:strRef>
              <c:f>Sheet3!$I$1:$I$2</c:f>
              <c:strCache>
                <c:ptCount val="1"/>
                <c:pt idx="0">
                  <c:v>Aug</c:v>
                </c:pt>
              </c:strCache>
            </c:strRef>
          </c:tx>
          <c:spPr>
            <a:ln w="38100" cap="flat" cmpd="dbl" algn="ctr">
              <a:solidFill>
                <a:schemeClr val="accent2">
                  <a:lumMod val="60000"/>
                </a:schemeClr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Sheet3!$I$3:$I$8</c:f>
              <c:numCache>
                <c:formatCode>General</c:formatCode>
                <c:ptCount val="5"/>
                <c:pt idx="0">
                  <c:v>1090</c:v>
                </c:pt>
                <c:pt idx="1">
                  <c:v>1259</c:v>
                </c:pt>
                <c:pt idx="2">
                  <c:v>1669</c:v>
                </c:pt>
                <c:pt idx="3">
                  <c:v>1905</c:v>
                </c:pt>
                <c:pt idx="4">
                  <c:v>2566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6CF-4EEC-BE86-35E3E499215A}"/>
            </c:ext>
          </c:extLst>
        </c:ser>
        <c:ser>
          <c:idx val="8"/>
          <c:order val="8"/>
          <c:tx>
            <c:strRef>
              <c:f>Sheet3!$J$1:$J$2</c:f>
              <c:strCache>
                <c:ptCount val="1"/>
                <c:pt idx="0">
                  <c:v>Sep</c:v>
                </c:pt>
              </c:strCache>
            </c:strRef>
          </c:tx>
          <c:spPr>
            <a:ln w="38100" cap="flat" cmpd="dbl" algn="ctr">
              <a:solidFill>
                <a:schemeClr val="accent3">
                  <a:lumMod val="60000"/>
                </a:schemeClr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Sheet3!$J$3:$J$8</c:f>
              <c:numCache>
                <c:formatCode>General</c:formatCode>
                <c:ptCount val="5"/>
                <c:pt idx="0">
                  <c:v>1061</c:v>
                </c:pt>
                <c:pt idx="1">
                  <c:v>1225</c:v>
                </c:pt>
                <c:pt idx="2">
                  <c:v>1638</c:v>
                </c:pt>
                <c:pt idx="3">
                  <c:v>1856</c:v>
                </c:pt>
                <c:pt idx="4">
                  <c:v>2439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6CF-4EEC-BE86-35E3E499215A}"/>
            </c:ext>
          </c:extLst>
        </c:ser>
        <c:ser>
          <c:idx val="9"/>
          <c:order val="9"/>
          <c:tx>
            <c:strRef>
              <c:f>Sheet3!$K$1:$K$2</c:f>
              <c:strCache>
                <c:ptCount val="1"/>
                <c:pt idx="0">
                  <c:v>Oct</c:v>
                </c:pt>
              </c:strCache>
            </c:strRef>
          </c:tx>
          <c:spPr>
            <a:ln w="38100" cap="flat" cmpd="dbl" algn="ctr">
              <a:solidFill>
                <a:schemeClr val="accent4">
                  <a:lumMod val="60000"/>
                </a:schemeClr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Sheet3!$K$3:$K$8</c:f>
              <c:numCache>
                <c:formatCode>General</c:formatCode>
                <c:ptCount val="5"/>
                <c:pt idx="0">
                  <c:v>1088</c:v>
                </c:pt>
                <c:pt idx="1">
                  <c:v>1305</c:v>
                </c:pt>
                <c:pt idx="2">
                  <c:v>1660</c:v>
                </c:pt>
                <c:pt idx="3">
                  <c:v>1875</c:v>
                </c:pt>
                <c:pt idx="4">
                  <c:v>2567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6CF-4EEC-BE86-35E3E499215A}"/>
            </c:ext>
          </c:extLst>
        </c:ser>
        <c:ser>
          <c:idx val="10"/>
          <c:order val="10"/>
          <c:tx>
            <c:strRef>
              <c:f>Sheet3!$L$1:$L$2</c:f>
              <c:strCache>
                <c:ptCount val="1"/>
                <c:pt idx="0">
                  <c:v>Nov</c:v>
                </c:pt>
              </c:strCache>
            </c:strRef>
          </c:tx>
          <c:spPr>
            <a:ln w="38100" cap="flat" cmpd="dbl" algn="ctr">
              <a:solidFill>
                <a:schemeClr val="accent5">
                  <a:lumMod val="60000"/>
                </a:schemeClr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Sheet3!$L$3:$L$8</c:f>
              <c:numCache>
                <c:formatCode>General</c:formatCode>
                <c:ptCount val="5"/>
                <c:pt idx="0">
                  <c:v>1046</c:v>
                </c:pt>
                <c:pt idx="1">
                  <c:v>1243</c:v>
                </c:pt>
                <c:pt idx="2">
                  <c:v>1626</c:v>
                </c:pt>
                <c:pt idx="3">
                  <c:v>1831</c:v>
                </c:pt>
                <c:pt idx="4">
                  <c:v>2508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6CF-4EEC-BE86-35E3E499215A}"/>
            </c:ext>
          </c:extLst>
        </c:ser>
        <c:ser>
          <c:idx val="11"/>
          <c:order val="11"/>
          <c:tx>
            <c:strRef>
              <c:f>Sheet3!$M$1:$M$2</c:f>
              <c:strCache>
                <c:ptCount val="1"/>
                <c:pt idx="0">
                  <c:v>Dec</c:v>
                </c:pt>
              </c:strCache>
            </c:strRef>
          </c:tx>
          <c:spPr>
            <a:ln w="38100" cap="flat" cmpd="dbl" algn="ctr">
              <a:solidFill>
                <a:schemeClr val="accent6">
                  <a:lumMod val="60000"/>
                </a:schemeClr>
              </a:solidFill>
              <a:miter lim="800000"/>
            </a:ln>
            <a:effectLst/>
          </c:spPr>
          <c:marker>
            <c:symbol val="none"/>
          </c:marker>
          <c:cat>
            <c:strRef>
              <c:f>Sheet3!$A$3:$A$8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Sheet3!$M$3:$M$8</c:f>
              <c:numCache>
                <c:formatCode>General</c:formatCode>
                <c:ptCount val="5"/>
                <c:pt idx="0">
                  <c:v>1124</c:v>
                </c:pt>
                <c:pt idx="1">
                  <c:v>1257</c:v>
                </c:pt>
                <c:pt idx="2">
                  <c:v>1539</c:v>
                </c:pt>
                <c:pt idx="3">
                  <c:v>1872</c:v>
                </c:pt>
                <c:pt idx="4">
                  <c:v>2609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C6CF-4EEC-BE86-35E3E4992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6983968"/>
        <c:axId val="2066985888"/>
      </c:lineChart>
      <c:catAx>
        <c:axId val="2066983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6985888"/>
        <c:crosses val="autoZero"/>
        <c:auto val="1"/>
        <c:lblAlgn val="ctr"/>
        <c:lblOffset val="100"/>
        <c:noMultiLvlLbl val="0"/>
      </c:catAx>
      <c:valAx>
        <c:axId val="206698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698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847609673790772"/>
          <c:y val="0.33251659387343813"/>
          <c:w val="0.11438104611923509"/>
          <c:h val="0.411057346337430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06392694063926E-2"/>
          <c:y val="0.14262771562935717"/>
          <c:w val="0.84988584474885842"/>
          <c:h val="0.78860836822096481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306-4CAA-9680-D093F99D61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306-4CAA-9680-D093F99D61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306-4CAA-9680-D093F99D61D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306-4CAA-9680-D093F99D61D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306-4CAA-9680-D093F99D61D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E306-4CAA-9680-D093F99D61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'sub2'!$G$65:$G$67</c:f>
              <c:strCache>
                <c:ptCount val="3"/>
                <c:pt idx="0">
                  <c:v>Performance Good</c:v>
                </c:pt>
                <c:pt idx="1">
                  <c:v>System Issue</c:v>
                </c:pt>
                <c:pt idx="2">
                  <c:v>Training Needed</c:v>
                </c:pt>
              </c:strCache>
            </c:strRef>
          </c:cat>
          <c:val>
            <c:numRef>
              <c:f>'sub2'!$H$65:$H$67</c:f>
              <c:numCache>
                <c:formatCode>General</c:formatCode>
                <c:ptCount val="3"/>
                <c:pt idx="0">
                  <c:v>11</c:v>
                </c:pt>
                <c:pt idx="1">
                  <c:v>22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06-4CAA-9680-D093F99D61D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2115773199582931"/>
          <c:y val="7.2262464305213478E-2"/>
          <c:w val="0.37594937619098989"/>
          <c:h val="3.3608511763082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'sub2'!$G$87</c:f>
              <c:strCache>
                <c:ptCount val="1"/>
                <c:pt idx="0">
                  <c:v>Avg. Resolution Time (Days)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'sub2'!$F$88:$F$104</c:f>
              <c:strCache>
                <c:ptCount val="17"/>
                <c:pt idx="0">
                  <c:v>A. Trejo</c:v>
                </c:pt>
                <c:pt idx="1">
                  <c:v>Aldo Carrillo</c:v>
                </c:pt>
                <c:pt idx="2">
                  <c:v>Alfonso Barraza</c:v>
                </c:pt>
                <c:pt idx="3">
                  <c:v>Alfredo Barreras</c:v>
                </c:pt>
                <c:pt idx="4">
                  <c:v>Elena Velez</c:v>
                </c:pt>
                <c:pt idx="5">
                  <c:v>Estuardo Ocaño</c:v>
                </c:pt>
                <c:pt idx="6">
                  <c:v>Flores Sierra</c:v>
                </c:pt>
                <c:pt idx="7">
                  <c:v>Guadalupe Villanueva</c:v>
                </c:pt>
                <c:pt idx="8">
                  <c:v>Jesus Pacheco</c:v>
                </c:pt>
                <c:pt idx="9">
                  <c:v>Lopez Moran</c:v>
                </c:pt>
                <c:pt idx="10">
                  <c:v>Lorena</c:v>
                </c:pt>
                <c:pt idx="11">
                  <c:v>Miller Gaviria</c:v>
                </c:pt>
                <c:pt idx="12">
                  <c:v>Nurio Zepeda</c:v>
                </c:pt>
                <c:pt idx="13">
                  <c:v>Orci Carlos</c:v>
                </c:pt>
                <c:pt idx="14">
                  <c:v>Parra Luna</c:v>
                </c:pt>
                <c:pt idx="15">
                  <c:v>Sandra Lujan</c:v>
                </c:pt>
                <c:pt idx="16">
                  <c:v>Velasquez Jose</c:v>
                </c:pt>
              </c:strCache>
            </c:strRef>
          </c:cat>
          <c:val>
            <c:numRef>
              <c:f>'sub2'!$G$88:$G$104</c:f>
              <c:numCache>
                <c:formatCode>General</c:formatCode>
                <c:ptCount val="17"/>
                <c:pt idx="0">
                  <c:v>5.32067727</c:v>
                </c:pt>
                <c:pt idx="1">
                  <c:v>4.5549338759999998</c:v>
                </c:pt>
                <c:pt idx="2">
                  <c:v>4.9994959679999997</c:v>
                </c:pt>
                <c:pt idx="3">
                  <c:v>4.2869791670000001</c:v>
                </c:pt>
                <c:pt idx="4">
                  <c:v>5.3819891139999996</c:v>
                </c:pt>
                <c:pt idx="5">
                  <c:v>5.5240310079999997</c:v>
                </c:pt>
                <c:pt idx="6">
                  <c:v>4.7544574629999996</c:v>
                </c:pt>
                <c:pt idx="7">
                  <c:v>4.8043922370000001</c:v>
                </c:pt>
                <c:pt idx="8">
                  <c:v>4.5950284830000001</c:v>
                </c:pt>
                <c:pt idx="9">
                  <c:v>4.7781186089999999</c:v>
                </c:pt>
                <c:pt idx="10">
                  <c:v>5.5111902339999999</c:v>
                </c:pt>
                <c:pt idx="11">
                  <c:v>4.731501057</c:v>
                </c:pt>
                <c:pt idx="12">
                  <c:v>5.4095580679999999</c:v>
                </c:pt>
                <c:pt idx="13">
                  <c:v>4.3177570090000001</c:v>
                </c:pt>
                <c:pt idx="14">
                  <c:v>4.8670402450000001</c:v>
                </c:pt>
                <c:pt idx="15">
                  <c:v>5.2046169989999997</c:v>
                </c:pt>
                <c:pt idx="16">
                  <c:v>4.5233453050000003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23-471A-8E2C-D20DBB33B375}"/>
            </c:ext>
          </c:extLst>
        </c:ser>
        <c:ser>
          <c:idx val="1"/>
          <c:order val="1"/>
          <c:tx>
            <c:strRef>
              <c:f>'sub2'!$H$87</c:f>
              <c:strCache>
                <c:ptCount val="1"/>
                <c:pt idx="0">
                  <c:v>Avg. Satisfaction Rate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'sub2'!$F$88:$F$104</c:f>
              <c:strCache>
                <c:ptCount val="17"/>
                <c:pt idx="0">
                  <c:v>A. Trejo</c:v>
                </c:pt>
                <c:pt idx="1">
                  <c:v>Aldo Carrillo</c:v>
                </c:pt>
                <c:pt idx="2">
                  <c:v>Alfonso Barraza</c:v>
                </c:pt>
                <c:pt idx="3">
                  <c:v>Alfredo Barreras</c:v>
                </c:pt>
                <c:pt idx="4">
                  <c:v>Elena Velez</c:v>
                </c:pt>
                <c:pt idx="5">
                  <c:v>Estuardo Ocaño</c:v>
                </c:pt>
                <c:pt idx="6">
                  <c:v>Flores Sierra</c:v>
                </c:pt>
                <c:pt idx="7">
                  <c:v>Guadalupe Villanueva</c:v>
                </c:pt>
                <c:pt idx="8">
                  <c:v>Jesus Pacheco</c:v>
                </c:pt>
                <c:pt idx="9">
                  <c:v>Lopez Moran</c:v>
                </c:pt>
                <c:pt idx="10">
                  <c:v>Lorena</c:v>
                </c:pt>
                <c:pt idx="11">
                  <c:v>Miller Gaviria</c:v>
                </c:pt>
                <c:pt idx="12">
                  <c:v>Nurio Zepeda</c:v>
                </c:pt>
                <c:pt idx="13">
                  <c:v>Orci Carlos</c:v>
                </c:pt>
                <c:pt idx="14">
                  <c:v>Parra Luna</c:v>
                </c:pt>
                <c:pt idx="15">
                  <c:v>Sandra Lujan</c:v>
                </c:pt>
                <c:pt idx="16">
                  <c:v>Velasquez Jose</c:v>
                </c:pt>
              </c:strCache>
            </c:strRef>
          </c:cat>
          <c:val>
            <c:numRef>
              <c:f>'sub2'!$H$88:$H$104</c:f>
              <c:numCache>
                <c:formatCode>General</c:formatCode>
                <c:ptCount val="17"/>
                <c:pt idx="0">
                  <c:v>3.5926115959999998</c:v>
                </c:pt>
                <c:pt idx="1">
                  <c:v>3.7833163779999999</c:v>
                </c:pt>
                <c:pt idx="2">
                  <c:v>3.0423387100000001</c:v>
                </c:pt>
                <c:pt idx="3">
                  <c:v>3.6677083330000002</c:v>
                </c:pt>
                <c:pt idx="4">
                  <c:v>3.6150420579999998</c:v>
                </c:pt>
                <c:pt idx="5">
                  <c:v>3.97622739</c:v>
                </c:pt>
                <c:pt idx="6">
                  <c:v>3.9908303620000001</c:v>
                </c:pt>
                <c:pt idx="7">
                  <c:v>3.6312563839999998</c:v>
                </c:pt>
                <c:pt idx="8">
                  <c:v>3.660797514</c:v>
                </c:pt>
                <c:pt idx="9">
                  <c:v>3.63803681</c:v>
                </c:pt>
                <c:pt idx="10">
                  <c:v>3.6281790439999999</c:v>
                </c:pt>
                <c:pt idx="11">
                  <c:v>3.9910147989999998</c:v>
                </c:pt>
                <c:pt idx="12">
                  <c:v>3.6120246659999999</c:v>
                </c:pt>
                <c:pt idx="13">
                  <c:v>3.6651090339999999</c:v>
                </c:pt>
                <c:pt idx="14">
                  <c:v>3.8476821189999999</c:v>
                </c:pt>
                <c:pt idx="15">
                  <c:v>3.6012591820000002</c:v>
                </c:pt>
                <c:pt idx="16">
                  <c:v>3.690097486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23-471A-8E2C-D20DBB33B3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252693919"/>
        <c:axId val="1147119631"/>
      </c:barChart>
      <c:catAx>
        <c:axId val="252693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7119631"/>
        <c:crosses val="autoZero"/>
        <c:auto val="1"/>
        <c:lblAlgn val="ctr"/>
        <c:lblOffset val="100"/>
        <c:noMultiLvlLbl val="0"/>
      </c:catAx>
      <c:valAx>
        <c:axId val="114711963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2693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updated.xlsm]Sheet3!PivotTable1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Sheet3!$B$27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/>
          </c:spPr>
          <c:invertIfNegative val="0"/>
          <c:cat>
            <c:strRef>
              <c:f>Sheet3!$A$28:$A$32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Sheet3!$B$28:$B$32</c:f>
              <c:numCache>
                <c:formatCode>General</c:formatCode>
                <c:ptCount val="4"/>
                <c:pt idx="0">
                  <c:v>7.6253981300729476</c:v>
                </c:pt>
                <c:pt idx="1">
                  <c:v>0.31380810468262937</c:v>
                </c:pt>
                <c:pt idx="2">
                  <c:v>5.2387327542156363</c:v>
                </c:pt>
                <c:pt idx="3">
                  <c:v>6.6156094559253376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C-465A-9A35-580DC89E8E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57817519"/>
        <c:axId val="757817039"/>
        <c:axId val="0"/>
      </c:bar3DChart>
      <c:catAx>
        <c:axId val="757817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817039"/>
        <c:crosses val="autoZero"/>
        <c:auto val="1"/>
        <c:lblAlgn val="ctr"/>
        <c:lblOffset val="100"/>
        <c:noMultiLvlLbl val="0"/>
      </c:catAx>
      <c:valAx>
        <c:axId val="7578170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817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updated.xlsm]sub4!PivotTable4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solidFill>
          <a:schemeClr val="lt1"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'sub4'!$B$3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'sub4'!$A$4:$A$6</c:f>
              <c:strCache>
                <c:ptCount val="2"/>
                <c:pt idx="0">
                  <c:v>After</c:v>
                </c:pt>
                <c:pt idx="1">
                  <c:v>Before</c:v>
                </c:pt>
              </c:strCache>
            </c:strRef>
          </c:cat>
          <c:val>
            <c:numRef>
              <c:f>'sub4'!$B$4:$B$6</c:f>
              <c:numCache>
                <c:formatCode>General</c:formatCode>
                <c:ptCount val="2"/>
                <c:pt idx="0">
                  <c:v>4.1447298179014176</c:v>
                </c:pt>
                <c:pt idx="1">
                  <c:v>4.0531318599347843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5A-40E5-8514-7BE2C9E2FA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94950159"/>
        <c:axId val="794950639"/>
        <c:axId val="0"/>
      </c:bar3DChart>
      <c:catAx>
        <c:axId val="794950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950639"/>
        <c:crosses val="autoZero"/>
        <c:auto val="1"/>
        <c:lblAlgn val="ctr"/>
        <c:lblOffset val="100"/>
        <c:noMultiLvlLbl val="0"/>
      </c:catAx>
      <c:valAx>
        <c:axId val="794950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950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updated.xlsm]sub4!PivotTable27</c:name>
    <c:fmtId val="12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solidFill>
          <a:schemeClr val="lt1"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'sub4'!$B$9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'sub4'!$A$10:$A$12</c:f>
              <c:strCache>
                <c:ptCount val="2"/>
                <c:pt idx="0">
                  <c:v>After</c:v>
                </c:pt>
                <c:pt idx="1">
                  <c:v>Before</c:v>
                </c:pt>
              </c:strCache>
            </c:strRef>
          </c:cat>
          <c:val>
            <c:numRef>
              <c:f>'sub4'!$B$10:$B$12</c:f>
              <c:numCache>
                <c:formatCode>General</c:formatCode>
                <c:ptCount val="2"/>
                <c:pt idx="0">
                  <c:v>4.5581983905727901</c:v>
                </c:pt>
                <c:pt idx="1">
                  <c:v>4.5477078493638246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96-4E37-9F67-62743DE173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95740207"/>
        <c:axId val="795741167"/>
        <c:axId val="0"/>
      </c:bar3DChart>
      <c:catAx>
        <c:axId val="795740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741167"/>
        <c:crosses val="autoZero"/>
        <c:auto val="1"/>
        <c:lblAlgn val="ctr"/>
        <c:lblOffset val="100"/>
        <c:noMultiLvlLbl val="0"/>
      </c:catAx>
      <c:valAx>
        <c:axId val="795741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740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'sub 5'!$P$3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'sub 5'!$O$4:$O$16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'sub 5'!$P$4:$P$16</c:f>
              <c:numCache>
                <c:formatCode>General</c:formatCode>
                <c:ptCount val="13"/>
                <c:pt idx="0">
                  <c:v>4.1516155758077877</c:v>
                </c:pt>
                <c:pt idx="1">
                  <c:v>4.0717630679660806</c:v>
                </c:pt>
                <c:pt idx="2">
                  <c:v>4.0736509479824985</c:v>
                </c:pt>
                <c:pt idx="3">
                  <c:v>4.1137709462013357</c:v>
                </c:pt>
                <c:pt idx="4">
                  <c:v>4.1107006526289869</c:v>
                </c:pt>
                <c:pt idx="5">
                  <c:v>4.0924947795111164</c:v>
                </c:pt>
                <c:pt idx="6">
                  <c:v>4.1240396530359353</c:v>
                </c:pt>
                <c:pt idx="7">
                  <c:v>4.098598185887619</c:v>
                </c:pt>
                <c:pt idx="8">
                  <c:v>4.1023238836841465</c:v>
                </c:pt>
                <c:pt idx="9">
                  <c:v>4.081341965862272</c:v>
                </c:pt>
                <c:pt idx="10">
                  <c:v>4.093409256118246</c:v>
                </c:pt>
                <c:pt idx="11">
                  <c:v>4.1007022973455545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2B-4164-BE10-5B3A84CF702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32681104"/>
        <c:axId val="732682544"/>
      </c:lineChart>
      <c:catAx>
        <c:axId val="73268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682544"/>
        <c:crosses val="autoZero"/>
        <c:auto val="1"/>
        <c:lblAlgn val="ctr"/>
        <c:lblOffset val="100"/>
        <c:noMultiLvlLbl val="0"/>
      </c:catAx>
      <c:valAx>
        <c:axId val="732682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68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'sub 5'!$P$20</c:f>
              <c:strCache>
                <c:ptCount val="1"/>
                <c:pt idx="0">
                  <c:v>Average of Resolution Time (hours)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'sub 5'!$O$21:$O$33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'sub 5'!$P$21:$P$33</c:f>
              <c:numCache>
                <c:formatCode>General</c:formatCode>
                <c:ptCount val="13"/>
                <c:pt idx="0">
                  <c:v>109.81938690969345</c:v>
                </c:pt>
                <c:pt idx="1">
                  <c:v>110.07011770661941</c:v>
                </c:pt>
                <c:pt idx="2">
                  <c:v>109.37384540593096</c:v>
                </c:pt>
                <c:pt idx="3">
                  <c:v>109.49829910545546</c:v>
                </c:pt>
                <c:pt idx="4">
                  <c:v>109.47321758404138</c:v>
                </c:pt>
                <c:pt idx="5">
                  <c:v>110.86991770052819</c:v>
                </c:pt>
                <c:pt idx="6">
                  <c:v>109.3085501858736</c:v>
                </c:pt>
                <c:pt idx="7">
                  <c:v>108.06926610908233</c:v>
                </c:pt>
                <c:pt idx="8">
                  <c:v>108.05110110719066</c:v>
                </c:pt>
                <c:pt idx="9">
                  <c:v>109.51006474396704</c:v>
                </c:pt>
                <c:pt idx="10">
                  <c:v>108.12793796946934</c:v>
                </c:pt>
                <c:pt idx="11">
                  <c:v>109.29270324961314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3F-4999-8E9F-DF1EDF7A62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3946384"/>
        <c:axId val="983945424"/>
      </c:lineChart>
      <c:catAx>
        <c:axId val="98394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3945424"/>
        <c:crosses val="autoZero"/>
        <c:auto val="1"/>
        <c:lblAlgn val="ctr"/>
        <c:lblOffset val="100"/>
        <c:noMultiLvlLbl val="0"/>
      </c:catAx>
      <c:valAx>
        <c:axId val="98394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3946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Overtime</a:t>
            </a:r>
            <a:r>
              <a:rPr lang="en-IN" baseline="0"/>
              <a:t> change in resolution time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'sub 6'!$N$5</c:f>
              <c:strCache>
                <c:ptCount val="1"/>
                <c:pt idx="0">
                  <c:v>Average of Resolution Time (year)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'sub 6'!$N$6:$N$17</c:f>
              <c:numCache>
                <c:formatCode>General</c:formatCode>
                <c:ptCount val="12"/>
                <c:pt idx="0">
                  <c:v>4.5517584859397751</c:v>
                </c:pt>
                <c:pt idx="1">
                  <c:v>4.5300703989272542</c:v>
                </c:pt>
                <c:pt idx="2">
                  <c:v>4.5586683549646514</c:v>
                </c:pt>
                <c:pt idx="3">
                  <c:v>4.5208003722661703</c:v>
                </c:pt>
                <c:pt idx="4">
                  <c:v>4.5859117161716174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A5-454B-A0CD-704F3BA53713}"/>
            </c:ext>
          </c:extLst>
        </c:ser>
        <c:ser>
          <c:idx val="1"/>
          <c:order val="1"/>
          <c:tx>
            <c:strRef>
              <c:f>'sub 6'!$O$5</c:f>
              <c:strCache>
                <c:ptCount val="1"/>
                <c:pt idx="0">
                  <c:v>Average of Resolution Time (qtr)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'sub 6'!$O$6:$O$17</c:f>
              <c:numCache>
                <c:formatCode>General</c:formatCode>
                <c:ptCount val="12"/>
                <c:pt idx="0">
                  <c:v>4.5728039022720468</c:v>
                </c:pt>
                <c:pt idx="1">
                  <c:v>4.5813050126038268</c:v>
                </c:pt>
                <c:pt idx="2">
                  <c:v>4.5194527403341676</c:v>
                </c:pt>
                <c:pt idx="3">
                  <c:v>4.540994035785288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A5-454B-A0CD-704F3BA53713}"/>
            </c:ext>
          </c:extLst>
        </c:ser>
        <c:ser>
          <c:idx val="2"/>
          <c:order val="2"/>
          <c:tx>
            <c:strRef>
              <c:f>'sub 6'!$P$5</c:f>
              <c:strCache>
                <c:ptCount val="1"/>
                <c:pt idx="0">
                  <c:v>Average of Resolution Time (months)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'sub 6'!$P$6:$P$17</c:f>
              <c:numCache>
                <c:formatCode>General</c:formatCode>
                <c:ptCount val="12"/>
                <c:pt idx="0">
                  <c:v>4.5758077879038943</c:v>
                </c:pt>
                <c:pt idx="1">
                  <c:v>4.5862549044424759</c:v>
                </c:pt>
                <c:pt idx="2">
                  <c:v>4.5572435585804572</c:v>
                </c:pt>
                <c:pt idx="3">
                  <c:v>4.5624291293939772</c:v>
                </c:pt>
                <c:pt idx="4">
                  <c:v>4.5613840660017235</c:v>
                </c:pt>
                <c:pt idx="5">
                  <c:v>4.6195799041886749</c:v>
                </c:pt>
                <c:pt idx="6">
                  <c:v>4.5545229244114003</c:v>
                </c:pt>
                <c:pt idx="7">
                  <c:v>4.5028860878784309</c:v>
                </c:pt>
                <c:pt idx="8">
                  <c:v>4.5021292127996109</c:v>
                </c:pt>
                <c:pt idx="9">
                  <c:v>4.5629193643319601</c:v>
                </c:pt>
                <c:pt idx="10">
                  <c:v>4.5053307487278893</c:v>
                </c:pt>
                <c:pt idx="11">
                  <c:v>4.5538626354005478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FA5-454B-A0CD-704F3BA53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9102511"/>
        <c:axId val="1339103951"/>
      </c:lineChart>
      <c:catAx>
        <c:axId val="13391025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103951"/>
        <c:crosses val="autoZero"/>
        <c:auto val="1"/>
        <c:lblAlgn val="ctr"/>
        <c:lblOffset val="100"/>
        <c:noMultiLvlLbl val="0"/>
      </c:catAx>
      <c:valAx>
        <c:axId val="1339103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10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Overtime change in Satisfaction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'sub 6'!$N$20</c:f>
              <c:strCache>
                <c:ptCount val="1"/>
                <c:pt idx="0">
                  <c:v>Average of Satisfaction Rate(year)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val>
            <c:numRef>
              <c:f>'sub 6'!$N$21:$N$32</c:f>
              <c:numCache>
                <c:formatCode>General</c:formatCode>
                <c:ptCount val="12"/>
                <c:pt idx="0">
                  <c:v>3.9796950425254769</c:v>
                </c:pt>
                <c:pt idx="1">
                  <c:v>4.068119342943346</c:v>
                </c:pt>
                <c:pt idx="2">
                  <c:v>4.0918539622243326</c:v>
                </c:pt>
                <c:pt idx="3">
                  <c:v>4.1223825034899955</c:v>
                </c:pt>
                <c:pt idx="4">
                  <c:v>4.1612692519251926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94-446F-861B-B84B36B44DA9}"/>
            </c:ext>
          </c:extLst>
        </c:ser>
        <c:ser>
          <c:idx val="1"/>
          <c:order val="1"/>
          <c:tx>
            <c:strRef>
              <c:f>'sub 6'!$O$20</c:f>
              <c:strCache>
                <c:ptCount val="1"/>
                <c:pt idx="0">
                  <c:v>Average of Satisfaction Rate(qtr)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val>
            <c:numRef>
              <c:f>'sub 6'!$O$21:$O$32</c:f>
              <c:numCache>
                <c:formatCode>General</c:formatCode>
                <c:ptCount val="12"/>
                <c:pt idx="0">
                  <c:v>4.0971717085276627</c:v>
                </c:pt>
                <c:pt idx="1">
                  <c:v>4.1055828753254264</c:v>
                </c:pt>
                <c:pt idx="2">
                  <c:v>4.1081201065461297</c:v>
                </c:pt>
                <c:pt idx="3">
                  <c:v>4.0917693836978133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94-446F-861B-B84B36B44DA9}"/>
            </c:ext>
          </c:extLst>
        </c:ser>
        <c:ser>
          <c:idx val="2"/>
          <c:order val="2"/>
          <c:tx>
            <c:strRef>
              <c:f>'sub 6'!$P$20</c:f>
              <c:strCache>
                <c:ptCount val="1"/>
                <c:pt idx="0">
                  <c:v>Average of Satisfaction Rate(Months)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val>
            <c:numRef>
              <c:f>'sub 6'!$P$21:$P$32</c:f>
              <c:numCache>
                <c:formatCode>General</c:formatCode>
                <c:ptCount val="12"/>
                <c:pt idx="0">
                  <c:v>4.1516155758077877</c:v>
                </c:pt>
                <c:pt idx="1">
                  <c:v>4.0717630679660806</c:v>
                </c:pt>
                <c:pt idx="2">
                  <c:v>4.0736509479824985</c:v>
                </c:pt>
                <c:pt idx="3">
                  <c:v>4.1137709462013357</c:v>
                </c:pt>
                <c:pt idx="4">
                  <c:v>4.1107006526289869</c:v>
                </c:pt>
                <c:pt idx="5">
                  <c:v>4.0924947795111164</c:v>
                </c:pt>
                <c:pt idx="6">
                  <c:v>4.1240396530359353</c:v>
                </c:pt>
                <c:pt idx="7">
                  <c:v>4.098598185887619</c:v>
                </c:pt>
                <c:pt idx="8">
                  <c:v>4.1023238836841465</c:v>
                </c:pt>
                <c:pt idx="9">
                  <c:v>4.081341965862272</c:v>
                </c:pt>
                <c:pt idx="10">
                  <c:v>4.093409256118246</c:v>
                </c:pt>
                <c:pt idx="11">
                  <c:v>4.1007022973455545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94-446F-861B-B84B36B44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1771599"/>
        <c:axId val="2071761039"/>
      </c:lineChart>
      <c:catAx>
        <c:axId val="20717715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761039"/>
        <c:crosses val="autoZero"/>
        <c:auto val="1"/>
        <c:lblAlgn val="ctr"/>
        <c:lblOffset val="100"/>
        <c:noMultiLvlLbl val="0"/>
      </c:catAx>
      <c:valAx>
        <c:axId val="2071761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77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updated.xlsm]sub 7!PivotTable1</c:name>
    <c:fmtId val="1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 7'!$B$3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'sub 7'!$A$4:$A$54</c:f>
              <c:strCach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strCache>
            </c:strRef>
          </c:cat>
          <c:val>
            <c:numRef>
              <c:f>'sub 7'!$B$4:$B$54</c:f>
              <c:numCache>
                <c:formatCode>General</c:formatCode>
                <c:ptCount val="50"/>
                <c:pt idx="0">
                  <c:v>1969</c:v>
                </c:pt>
                <c:pt idx="1">
                  <c:v>1968</c:v>
                </c:pt>
                <c:pt idx="2">
                  <c:v>2021</c:v>
                </c:pt>
                <c:pt idx="3">
                  <c:v>1988</c:v>
                </c:pt>
                <c:pt idx="4">
                  <c:v>2000</c:v>
                </c:pt>
                <c:pt idx="5">
                  <c:v>1949</c:v>
                </c:pt>
                <c:pt idx="6">
                  <c:v>1935</c:v>
                </c:pt>
                <c:pt idx="7">
                  <c:v>1960</c:v>
                </c:pt>
                <c:pt idx="8">
                  <c:v>1949</c:v>
                </c:pt>
                <c:pt idx="9">
                  <c:v>1974</c:v>
                </c:pt>
                <c:pt idx="10">
                  <c:v>1956</c:v>
                </c:pt>
                <c:pt idx="11">
                  <c:v>1897</c:v>
                </c:pt>
                <c:pt idx="12">
                  <c:v>1856</c:v>
                </c:pt>
                <c:pt idx="13">
                  <c:v>1942</c:v>
                </c:pt>
                <c:pt idx="14">
                  <c:v>1991</c:v>
                </c:pt>
                <c:pt idx="15">
                  <c:v>1926</c:v>
                </c:pt>
                <c:pt idx="16">
                  <c:v>1961</c:v>
                </c:pt>
                <c:pt idx="17">
                  <c:v>1892</c:v>
                </c:pt>
                <c:pt idx="18">
                  <c:v>1984</c:v>
                </c:pt>
                <c:pt idx="19">
                  <c:v>1920</c:v>
                </c:pt>
                <c:pt idx="20">
                  <c:v>1889</c:v>
                </c:pt>
                <c:pt idx="21">
                  <c:v>1966</c:v>
                </c:pt>
                <c:pt idx="22">
                  <c:v>1915</c:v>
                </c:pt>
                <c:pt idx="23">
                  <c:v>2003</c:v>
                </c:pt>
                <c:pt idx="24">
                  <c:v>1906</c:v>
                </c:pt>
                <c:pt idx="25">
                  <c:v>1963</c:v>
                </c:pt>
                <c:pt idx="26">
                  <c:v>1968</c:v>
                </c:pt>
                <c:pt idx="27">
                  <c:v>1946</c:v>
                </c:pt>
                <c:pt idx="28">
                  <c:v>1931</c:v>
                </c:pt>
                <c:pt idx="29">
                  <c:v>1963</c:v>
                </c:pt>
                <c:pt idx="30">
                  <c:v>1987</c:v>
                </c:pt>
                <c:pt idx="31">
                  <c:v>1974</c:v>
                </c:pt>
                <c:pt idx="32">
                  <c:v>1958</c:v>
                </c:pt>
                <c:pt idx="33">
                  <c:v>1927</c:v>
                </c:pt>
                <c:pt idx="34">
                  <c:v>2007</c:v>
                </c:pt>
                <c:pt idx="35">
                  <c:v>1913</c:v>
                </c:pt>
                <c:pt idx="36">
                  <c:v>1931</c:v>
                </c:pt>
                <c:pt idx="37">
                  <c:v>1938</c:v>
                </c:pt>
                <c:pt idx="38">
                  <c:v>2026</c:v>
                </c:pt>
                <c:pt idx="39">
                  <c:v>1920</c:v>
                </c:pt>
                <c:pt idx="40">
                  <c:v>1966</c:v>
                </c:pt>
                <c:pt idx="41">
                  <c:v>1945</c:v>
                </c:pt>
                <c:pt idx="42">
                  <c:v>1897</c:v>
                </c:pt>
                <c:pt idx="43">
                  <c:v>1943</c:v>
                </c:pt>
                <c:pt idx="44">
                  <c:v>1929</c:v>
                </c:pt>
                <c:pt idx="45">
                  <c:v>1950</c:v>
                </c:pt>
                <c:pt idx="46">
                  <c:v>1933</c:v>
                </c:pt>
                <c:pt idx="47">
                  <c:v>2027</c:v>
                </c:pt>
                <c:pt idx="48">
                  <c:v>1890</c:v>
                </c:pt>
                <c:pt idx="49">
                  <c:v>1949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CD-4247-ACCC-A64328B69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121974191"/>
        <c:axId val="121971311"/>
      </c:barChart>
      <c:catAx>
        <c:axId val="1219741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Max ticket resolved  (Agent id 48 ) 2027</a:t>
                </a:r>
              </a:p>
              <a:p>
                <a:pPr>
                  <a:defRPr/>
                </a:pPr>
                <a:r>
                  <a:rPr lang="en-IN"/>
                  <a:t>Min ticket resolved 1856 by (Agent 13 )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971311"/>
        <c:crosses val="autoZero"/>
        <c:auto val="1"/>
        <c:lblAlgn val="ctr"/>
        <c:lblOffset val="100"/>
        <c:noMultiLvlLbl val="0"/>
      </c:catAx>
      <c:valAx>
        <c:axId val="12197131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97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 8'!$G$18</c:f>
              <c:strCache>
                <c:ptCount val="1"/>
                <c:pt idx="0">
                  <c:v>Average Satisfaction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8'!$F$19:$F$21</c:f>
              <c:strCache>
                <c:ptCount val="3"/>
                <c:pt idx="0">
                  <c:v>Senior (41+)</c:v>
                </c:pt>
                <c:pt idx="1">
                  <c:v>Mid-Career (31-40)</c:v>
                </c:pt>
                <c:pt idx="2">
                  <c:v>Young (18-30)</c:v>
                </c:pt>
              </c:strCache>
            </c:strRef>
          </c:cat>
          <c:val>
            <c:numRef>
              <c:f>'sub 8'!$G$19:$G$21</c:f>
              <c:numCache>
                <c:formatCode>General</c:formatCode>
                <c:ptCount val="3"/>
                <c:pt idx="0">
                  <c:v>4.0540468684720272</c:v>
                </c:pt>
                <c:pt idx="1">
                  <c:v>4.1248848083552341</c:v>
                </c:pt>
                <c:pt idx="2">
                  <c:v>4.2128563155524095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D-41D4-9013-1B8DF8EF39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62289376"/>
        <c:axId val="662288896"/>
      </c:barChart>
      <c:lineChart>
        <c:grouping val="standard"/>
        <c:varyColors val="0"/>
        <c:ser>
          <c:idx val="1"/>
          <c:order val="1"/>
          <c:tx>
            <c:strRef>
              <c:f>'sub 8'!$H$18</c:f>
              <c:strCache>
                <c:ptCount val="1"/>
                <c:pt idx="0">
                  <c:v>Total Tickets Resolved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8'!$F$19:$F$21</c:f>
              <c:strCache>
                <c:ptCount val="3"/>
                <c:pt idx="0">
                  <c:v>Senior (41+)</c:v>
                </c:pt>
                <c:pt idx="1">
                  <c:v>Mid-Career (31-40)</c:v>
                </c:pt>
                <c:pt idx="2">
                  <c:v>Young (18-30)</c:v>
                </c:pt>
              </c:strCache>
            </c:strRef>
          </c:cat>
          <c:val>
            <c:numRef>
              <c:f>'sub 8'!$H$19:$H$21</c:f>
              <c:numCache>
                <c:formatCode>General</c:formatCode>
                <c:ptCount val="3"/>
                <c:pt idx="0">
                  <c:v>52658</c:v>
                </c:pt>
                <c:pt idx="1">
                  <c:v>29299</c:v>
                </c:pt>
                <c:pt idx="2">
                  <c:v>15541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3D-41D4-9013-1B8DF8EF39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24519344"/>
        <c:axId val="724521744"/>
      </c:lineChart>
      <c:catAx>
        <c:axId val="72451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521744"/>
        <c:crosses val="autoZero"/>
        <c:auto val="1"/>
        <c:lblAlgn val="ctr"/>
        <c:lblOffset val="100"/>
        <c:noMultiLvlLbl val="0"/>
      </c:catAx>
      <c:valAx>
        <c:axId val="72452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519344"/>
        <c:crosses val="autoZero"/>
        <c:crossBetween val="between"/>
      </c:valAx>
      <c:valAx>
        <c:axId val="66228889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289376"/>
        <c:crosses val="max"/>
        <c:crossBetween val="between"/>
      </c:valAx>
      <c:catAx>
        <c:axId val="662289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622888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file updated.xlsm]sub9!PivotTable10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'sub9'!$B$3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'sub9'!$A$4:$A$9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'sub9'!$B$4:$B$9</c:f>
              <c:numCache>
                <c:formatCode>General</c:formatCode>
                <c:ptCount val="5"/>
                <c:pt idx="0">
                  <c:v>3.9796950425254769</c:v>
                </c:pt>
                <c:pt idx="1">
                  <c:v>4.068119342943346</c:v>
                </c:pt>
                <c:pt idx="2">
                  <c:v>4.0918539622243326</c:v>
                </c:pt>
                <c:pt idx="3">
                  <c:v>4.1223825034899955</c:v>
                </c:pt>
                <c:pt idx="4">
                  <c:v>4.1612692519251926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B-4D2A-81C6-443663D768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844257584"/>
        <c:axId val="606638704"/>
      </c:barChart>
      <c:lineChart>
        <c:grouping val="standard"/>
        <c:varyColors val="0"/>
        <c:ser>
          <c:idx val="1"/>
          <c:order val="1"/>
          <c:tx>
            <c:strRef>
              <c:f>'sub9'!$C$3</c:f>
              <c:strCache>
                <c:ptCount val="1"/>
                <c:pt idx="0">
                  <c:v>Count of ID Ticket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'sub9'!$A$4:$A$9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'sub9'!$C$4:$C$9</c:f>
              <c:numCache>
                <c:formatCode>General</c:formatCode>
                <c:ptCount val="5"/>
                <c:pt idx="0">
                  <c:v>13051</c:v>
                </c:pt>
                <c:pt idx="1">
                  <c:v>14915</c:v>
                </c:pt>
                <c:pt idx="2">
                  <c:v>18954</c:v>
                </c:pt>
                <c:pt idx="3">
                  <c:v>21490</c:v>
                </c:pt>
                <c:pt idx="4">
                  <c:v>29088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B-4D2A-81C6-443663D768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62289856"/>
        <c:axId val="662288416"/>
      </c:lineChart>
      <c:catAx>
        <c:axId val="184425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6638704"/>
        <c:crosses val="autoZero"/>
        <c:auto val="1"/>
        <c:lblAlgn val="ctr"/>
        <c:lblOffset val="100"/>
        <c:noMultiLvlLbl val="0"/>
      </c:catAx>
      <c:valAx>
        <c:axId val="606638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257584"/>
        <c:crosses val="autoZero"/>
        <c:crossBetween val="between"/>
      </c:valAx>
      <c:valAx>
        <c:axId val="66228841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289856"/>
        <c:crosses val="max"/>
        <c:crossBetween val="between"/>
      </c:valAx>
      <c:catAx>
        <c:axId val="6622898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622884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2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  <a:scene3d>
        <a:camera prst="orthographicFront"/>
        <a:lightRig rig="threePt" dir="t"/>
      </a:scene3d>
      <a:sp3d prstMaterial="translucentPowder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  <a:ln>
        <a:solidFill>
          <a:schemeClr val="phClr">
            <a:lumMod val="7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lt1"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2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  <a:scene3d>
        <a:camera prst="orthographicFront"/>
        <a:lightRig rig="threePt" dir="t"/>
      </a:scene3d>
      <a:sp3d prstMaterial="translucentPowder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  <a:ln>
        <a:solidFill>
          <a:schemeClr val="phClr">
            <a:lumMod val="7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lt1"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9084" y="593788"/>
            <a:ext cx="4524375" cy="347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1F3A9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F3A9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F3A9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F3A9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FE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593788"/>
            <a:ext cx="5247640" cy="347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1F3A9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286000" y="2933700"/>
            <a:ext cx="14266116" cy="1258037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010"/>
              </a:spcBef>
            </a:pPr>
            <a:r>
              <a:rPr lang="en-IN" spc="-40" dirty="0"/>
              <a:t>IT</a:t>
            </a:r>
            <a:r>
              <a:rPr lang="en-IN" spc="-705" dirty="0"/>
              <a:t> </a:t>
            </a:r>
            <a:r>
              <a:rPr lang="en-IN" spc="220" dirty="0"/>
              <a:t>Ticket </a:t>
            </a:r>
            <a:r>
              <a:rPr lang="en-IN" spc="650" dirty="0"/>
              <a:t>Analysis </a:t>
            </a:r>
            <a:r>
              <a:rPr lang="en-IN" spc="180" dirty="0"/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11000" y="5372100"/>
            <a:ext cx="7560516" cy="3885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2450" spc="-60" dirty="0">
                <a:solidFill>
                  <a:srgbClr val="1F3A93"/>
                </a:solidFill>
                <a:latin typeface="Arial MT"/>
                <a:cs typeface="Arial MT"/>
              </a:rPr>
              <a:t>Presented</a:t>
            </a:r>
            <a:r>
              <a:rPr lang="en-IN" sz="2450" spc="-8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50" dirty="0">
                <a:solidFill>
                  <a:srgbClr val="1F3A93"/>
                </a:solidFill>
                <a:latin typeface="Arial MT"/>
                <a:cs typeface="Arial MT"/>
              </a:rPr>
              <a:t>by</a:t>
            </a:r>
            <a:r>
              <a:rPr lang="en-IN" sz="2450" spc="-8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50" dirty="0">
                <a:solidFill>
                  <a:srgbClr val="1F3A93"/>
                </a:solidFill>
                <a:latin typeface="Roboto Lt"/>
                <a:cs typeface="Roboto Lt"/>
              </a:rPr>
              <a:t>[</a:t>
            </a:r>
            <a:r>
              <a:rPr lang="en-IN" sz="2450" spc="-50" dirty="0">
                <a:solidFill>
                  <a:srgbClr val="1F3A93"/>
                </a:solidFill>
                <a:latin typeface="Arial MT"/>
                <a:cs typeface="Roboto Lt"/>
              </a:rPr>
              <a:t>Hritik </a:t>
            </a:r>
            <a:r>
              <a:rPr lang="en-IN" sz="2450" spc="-50" dirty="0" err="1">
                <a:solidFill>
                  <a:srgbClr val="1F3A93"/>
                </a:solidFill>
                <a:latin typeface="Arial MT"/>
                <a:cs typeface="Roboto Lt"/>
              </a:rPr>
              <a:t>kumar</a:t>
            </a:r>
            <a:r>
              <a:rPr lang="en-IN" sz="2400" spc="-10" dirty="0">
                <a:solidFill>
                  <a:srgbClr val="1F3A93"/>
                </a:solidFill>
                <a:latin typeface="Roboto Lt"/>
                <a:cs typeface="Roboto Lt"/>
              </a:rPr>
              <a:t>]</a:t>
            </a:r>
            <a:endParaRPr lang="en-IN" sz="2400" dirty="0">
              <a:latin typeface="Roboto Lt"/>
              <a:cs typeface="Roboto Lt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0549AC1-0234-6EA4-F40F-CAE8BABA9E8F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4086" y="3506470"/>
            <a:ext cx="4733290" cy="1637030"/>
          </a:xfrm>
          <a:prstGeom prst="rect">
            <a:avLst/>
          </a:prstGeom>
        </p:spPr>
        <p:txBody>
          <a:bodyPr vert="horz" wrap="square" lIns="0" tIns="206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3150" b="1" spc="-165" dirty="0">
                <a:solidFill>
                  <a:srgbClr val="1F3A93"/>
                </a:solidFill>
                <a:latin typeface="Arial"/>
                <a:cs typeface="Arial"/>
              </a:rPr>
              <a:t>Project</a:t>
            </a:r>
            <a:r>
              <a:rPr sz="3150" b="1" spc="-60" dirty="0">
                <a:solidFill>
                  <a:srgbClr val="1F3A93"/>
                </a:solidFill>
                <a:latin typeface="Arial"/>
                <a:cs typeface="Arial"/>
              </a:rPr>
              <a:t> </a:t>
            </a:r>
            <a:r>
              <a:rPr sz="3150" b="1" spc="-30" dirty="0">
                <a:solidFill>
                  <a:srgbClr val="1F3A93"/>
                </a:solidFill>
                <a:latin typeface="Arial"/>
                <a:cs typeface="Arial"/>
              </a:rPr>
              <a:t>Overview</a:t>
            </a:r>
            <a:endParaRPr sz="3150" dirty="0">
              <a:latin typeface="Arial"/>
              <a:cs typeface="Arial"/>
            </a:endParaRPr>
          </a:p>
          <a:p>
            <a:pPr marL="355600" marR="5080" indent="-342900">
              <a:lnSpc>
                <a:spcPct val="112200"/>
              </a:lnSpc>
              <a:spcBef>
                <a:spcPts val="785"/>
              </a:spcBef>
              <a:buFont typeface="Arial" panose="020B0604020202020204" pitchFamily="34" charset="0"/>
              <a:buChar char="•"/>
            </a:pPr>
            <a:r>
              <a:rPr sz="2450" spc="-65" dirty="0">
                <a:solidFill>
                  <a:srgbClr val="1F3A93"/>
                </a:solidFill>
                <a:latin typeface="Arial MT"/>
                <a:cs typeface="Arial MT"/>
              </a:rPr>
              <a:t>This</a:t>
            </a:r>
            <a:r>
              <a:rPr sz="2450" spc="-10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F3A93"/>
                </a:solidFill>
                <a:latin typeface="Arial MT"/>
                <a:cs typeface="Arial MT"/>
              </a:rPr>
              <a:t>project</a:t>
            </a:r>
            <a:r>
              <a:rPr sz="2450" spc="-16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1F3A93"/>
                </a:solidFill>
                <a:latin typeface="Arial MT"/>
                <a:cs typeface="Arial MT"/>
              </a:rPr>
              <a:t>analyzes</a:t>
            </a:r>
            <a:r>
              <a:rPr sz="2450" spc="-9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F3A93"/>
                </a:solidFill>
                <a:latin typeface="Arial MT"/>
                <a:cs typeface="Arial MT"/>
              </a:rPr>
              <a:t>ticket</a:t>
            </a:r>
            <a:r>
              <a:rPr sz="2450" spc="-114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1F3A93"/>
                </a:solidFill>
                <a:latin typeface="Arial MT"/>
                <a:cs typeface="Arial MT"/>
              </a:rPr>
              <a:t>data</a:t>
            </a:r>
            <a:r>
              <a:rPr sz="2450" spc="-12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1F3A93"/>
                </a:solidFill>
                <a:latin typeface="Arial MT"/>
                <a:cs typeface="Arial MT"/>
              </a:rPr>
              <a:t>for efficiency</a:t>
            </a:r>
            <a:r>
              <a:rPr sz="2450" spc="-9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1F3A93"/>
                </a:solidFill>
                <a:latin typeface="Arial MT"/>
                <a:cs typeface="Arial MT"/>
              </a:rPr>
              <a:t>assessment</a:t>
            </a:r>
            <a:r>
              <a:rPr sz="2400" spc="-10" dirty="0">
                <a:solidFill>
                  <a:srgbClr val="1F3A93"/>
                </a:solidFill>
                <a:latin typeface="Bahnschrift"/>
                <a:cs typeface="Bahnschrift"/>
              </a:rPr>
              <a:t>.</a:t>
            </a:r>
            <a:endParaRPr sz="2400" dirty="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21974" y="3088967"/>
            <a:ext cx="6270626" cy="53467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150" b="1" spc="-165" dirty="0">
                <a:solidFill>
                  <a:srgbClr val="1F3A93"/>
                </a:solidFill>
                <a:latin typeface="Arial"/>
                <a:cs typeface="Arial"/>
              </a:rPr>
              <a:t>Project</a:t>
            </a:r>
            <a:r>
              <a:rPr lang="en-US" sz="3150" b="1" spc="-60" dirty="0">
                <a:solidFill>
                  <a:srgbClr val="1F3A93"/>
                </a:solidFill>
                <a:latin typeface="Arial"/>
                <a:cs typeface="Arial"/>
              </a:rPr>
              <a:t> </a:t>
            </a:r>
            <a:r>
              <a:rPr lang="en-US" sz="3150" b="1" spc="-204" dirty="0">
                <a:solidFill>
                  <a:srgbClr val="1F3A93"/>
                </a:solidFill>
                <a:latin typeface="Arial"/>
                <a:cs typeface="Arial"/>
              </a:rPr>
              <a:t>Working</a:t>
            </a:r>
            <a:r>
              <a:rPr lang="en-US" sz="3150" b="1" spc="-60" dirty="0">
                <a:solidFill>
                  <a:srgbClr val="1F3A93"/>
                </a:solidFill>
                <a:latin typeface="Arial"/>
                <a:cs typeface="Arial"/>
              </a:rPr>
              <a:t> </a:t>
            </a:r>
            <a:r>
              <a:rPr lang="en-US" sz="3150" b="1" spc="-10" dirty="0">
                <a:solidFill>
                  <a:srgbClr val="1F3A93"/>
                </a:solidFill>
                <a:latin typeface="Arial"/>
                <a:cs typeface="Arial"/>
              </a:rPr>
              <a:t>Method/Objective 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We clean up the messy ticket data first.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50" spc="-25" dirty="0">
              <a:solidFill>
                <a:srgbClr val="1F3A93"/>
              </a:solidFill>
              <a:latin typeface="Arial M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Then, we use pivot tables to quickly sum up the tickets, figure out the biggest problems, and see how long fixes take.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50" spc="-25" dirty="0">
              <a:solidFill>
                <a:srgbClr val="1F3A93"/>
              </a:solidFill>
              <a:latin typeface="Arial M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Finally, we build an interactive dashboard with charts. This lets everyone see the insights easily and quickly filter the results to understand ticket performance.</a:t>
            </a:r>
          </a:p>
          <a:p>
            <a:pPr marL="12700" marR="5080" indent="10795">
              <a:lnSpc>
                <a:spcPct val="121200"/>
              </a:lnSpc>
              <a:spcBef>
                <a:spcPts val="825"/>
              </a:spcBef>
            </a:pPr>
            <a:endParaRPr lang="en-US" sz="2400" dirty="0">
              <a:latin typeface="Bahnschrift"/>
              <a:cs typeface="Bahnschrif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8800" y="724796"/>
            <a:ext cx="15805151" cy="1258678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015"/>
              </a:spcBef>
            </a:pPr>
            <a:r>
              <a:rPr lang="en-IN" sz="8000" b="1" spc="380" dirty="0">
                <a:solidFill>
                  <a:srgbClr val="1F3A93"/>
                </a:solidFill>
                <a:latin typeface="Trebuchet MS"/>
                <a:cs typeface="Trebuchet MS"/>
              </a:rPr>
              <a:t>Introduction </a:t>
            </a:r>
            <a:r>
              <a:rPr lang="en-IN" sz="8000" b="1" spc="844" dirty="0">
                <a:solidFill>
                  <a:srgbClr val="1F3A93"/>
                </a:solidFill>
                <a:latin typeface="Trebuchet MS"/>
                <a:cs typeface="Trebuchet MS"/>
              </a:rPr>
              <a:t>and</a:t>
            </a:r>
            <a:r>
              <a:rPr lang="en-IN" sz="8000" b="1" spc="-70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8000" b="1" spc="375" dirty="0">
                <a:solidFill>
                  <a:srgbClr val="1F3A93"/>
                </a:solidFill>
                <a:latin typeface="Trebuchet MS"/>
                <a:cs typeface="Trebuchet MS"/>
              </a:rPr>
              <a:t>Objectives</a:t>
            </a:r>
            <a:endParaRPr lang="en-IN" sz="8000" dirty="0">
              <a:latin typeface="Trebuchet MS"/>
              <a:cs typeface="Trebuchet MS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58122C2-A823-E847-039D-FA3F390AC855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486400" y="2854604"/>
            <a:ext cx="8373108" cy="457779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15"/>
              </a:spcBef>
            </a:pPr>
            <a:r>
              <a:rPr sz="3150" b="1" spc="-155" dirty="0">
                <a:solidFill>
                  <a:srgbClr val="1F3A93"/>
                </a:solidFill>
                <a:latin typeface="Trebuchet MS"/>
                <a:cs typeface="Trebuchet MS"/>
              </a:rPr>
              <a:t>Key</a:t>
            </a:r>
            <a:r>
              <a:rPr sz="315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114" dirty="0">
                <a:solidFill>
                  <a:srgbClr val="1F3A93"/>
                </a:solidFill>
                <a:latin typeface="Trebuchet MS"/>
                <a:cs typeface="Trebuchet MS"/>
              </a:rPr>
              <a:t>components</a:t>
            </a:r>
            <a:r>
              <a:rPr sz="315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100" dirty="0">
                <a:solidFill>
                  <a:srgbClr val="1F3A93"/>
                </a:solidFill>
                <a:latin typeface="Trebuchet MS"/>
                <a:cs typeface="Trebuchet MS"/>
              </a:rPr>
              <a:t>and</a:t>
            </a:r>
            <a:r>
              <a:rPr sz="315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170" dirty="0">
                <a:solidFill>
                  <a:srgbClr val="1F3A93"/>
                </a:solidFill>
                <a:latin typeface="Trebuchet MS"/>
                <a:cs typeface="Trebuchet MS"/>
              </a:rPr>
              <a:t>structure</a:t>
            </a:r>
            <a:r>
              <a:rPr sz="315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140" dirty="0">
                <a:solidFill>
                  <a:srgbClr val="1F3A93"/>
                </a:solidFill>
                <a:latin typeface="Trebuchet MS"/>
                <a:cs typeface="Trebuchet MS"/>
              </a:rPr>
              <a:t>of</a:t>
            </a:r>
            <a:r>
              <a:rPr sz="315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185" dirty="0">
                <a:solidFill>
                  <a:srgbClr val="1F3A93"/>
                </a:solidFill>
                <a:latin typeface="Trebuchet MS"/>
                <a:cs typeface="Trebuchet MS"/>
              </a:rPr>
              <a:t>the</a:t>
            </a:r>
            <a:r>
              <a:rPr sz="3150" b="1" spc="-160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25" dirty="0">
                <a:solidFill>
                  <a:srgbClr val="1F3A93"/>
                </a:solidFill>
                <a:latin typeface="Trebuchet MS"/>
                <a:cs typeface="Trebuchet MS"/>
              </a:rPr>
              <a:t>IT </a:t>
            </a:r>
            <a:r>
              <a:rPr sz="3150" b="1" spc="-200" dirty="0">
                <a:solidFill>
                  <a:srgbClr val="1F3A93"/>
                </a:solidFill>
                <a:latin typeface="Trebuchet MS"/>
                <a:cs typeface="Trebuchet MS"/>
              </a:rPr>
              <a:t>ticket</a:t>
            </a:r>
            <a:r>
              <a:rPr sz="3150" b="1" spc="-130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sz="3150" b="1" spc="-10" dirty="0">
                <a:solidFill>
                  <a:srgbClr val="1F3A93"/>
                </a:solidFill>
                <a:latin typeface="Trebuchet MS"/>
                <a:cs typeface="Trebuchet MS"/>
              </a:rPr>
              <a:t>dataset</a:t>
            </a:r>
            <a:endParaRPr sz="31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30"/>
              </a:spcBef>
            </a:pPr>
            <a:endParaRPr sz="3000" dirty="0">
              <a:latin typeface="Trebuchet MS"/>
              <a:cs typeface="Trebuchet MS"/>
            </a:endParaRPr>
          </a:p>
          <a:p>
            <a:pPr marL="873125" marR="5056505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35" dirty="0">
                <a:solidFill>
                  <a:srgbClr val="1F3A93"/>
                </a:solidFill>
                <a:latin typeface="Arial MT"/>
                <a:cs typeface="Arial MT"/>
              </a:rPr>
              <a:t>Ticket</a:t>
            </a:r>
            <a:endParaRPr lang="en-IN" sz="2450" spc="-35" dirty="0">
              <a:solidFill>
                <a:srgbClr val="1F3A93"/>
              </a:solidFill>
              <a:latin typeface="Arial MT"/>
              <a:cs typeface="Arial MT"/>
            </a:endParaRPr>
          </a:p>
          <a:p>
            <a:pPr marL="873125" marR="5056505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25" dirty="0">
                <a:solidFill>
                  <a:srgbClr val="1F3A93"/>
                </a:solidFill>
                <a:latin typeface="Arial MT"/>
                <a:cs typeface="Arial MT"/>
              </a:rPr>
              <a:t>ID</a:t>
            </a:r>
            <a:endParaRPr lang="en-IN" sz="2450" spc="-25" dirty="0">
              <a:solidFill>
                <a:srgbClr val="1F3A93"/>
              </a:solidFill>
              <a:latin typeface="Arial MT"/>
              <a:cs typeface="Arial MT"/>
            </a:endParaRPr>
          </a:p>
          <a:p>
            <a:pPr marL="873125" marR="5056505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20" dirty="0">
                <a:solidFill>
                  <a:srgbClr val="1F3A93"/>
                </a:solidFill>
                <a:latin typeface="Arial MT"/>
                <a:cs typeface="Arial MT"/>
              </a:rPr>
              <a:t>Date</a:t>
            </a:r>
            <a:endParaRPr lang="en-IN" sz="2450" spc="-20" dirty="0">
              <a:solidFill>
                <a:srgbClr val="1F3A93"/>
              </a:solidFill>
              <a:latin typeface="Arial MT"/>
              <a:cs typeface="Arial MT"/>
            </a:endParaRPr>
          </a:p>
          <a:p>
            <a:pPr marL="873125" marR="5056505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10" dirty="0">
                <a:solidFill>
                  <a:srgbClr val="1F3A93"/>
                </a:solidFill>
                <a:latin typeface="Arial MT"/>
                <a:cs typeface="Arial MT"/>
              </a:rPr>
              <a:t>Agent</a:t>
            </a:r>
            <a:endParaRPr lang="en-IN" sz="2450" spc="-10" dirty="0">
              <a:solidFill>
                <a:srgbClr val="1F3A93"/>
              </a:solidFill>
              <a:latin typeface="Arial MT"/>
              <a:cs typeface="Arial MT"/>
            </a:endParaRPr>
          </a:p>
          <a:p>
            <a:pPr marL="873125" marR="5056505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45" dirty="0">
                <a:solidFill>
                  <a:srgbClr val="1F3A93"/>
                </a:solidFill>
                <a:latin typeface="Arial MT"/>
                <a:cs typeface="Arial MT"/>
              </a:rPr>
              <a:t>Cat</a:t>
            </a:r>
            <a:r>
              <a:rPr lang="en-IN" sz="2450" spc="-45" dirty="0" err="1">
                <a:solidFill>
                  <a:srgbClr val="1F3A93"/>
                </a:solidFill>
                <a:latin typeface="Arial MT"/>
                <a:cs typeface="Arial MT"/>
              </a:rPr>
              <a:t>egory</a:t>
            </a:r>
            <a:r>
              <a:rPr sz="2450" spc="-4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endParaRPr lang="en-IN" sz="2450" spc="-45" dirty="0">
              <a:solidFill>
                <a:srgbClr val="1F3A93"/>
              </a:solidFill>
              <a:latin typeface="Arial MT"/>
              <a:cs typeface="Arial MT"/>
            </a:endParaRPr>
          </a:p>
          <a:p>
            <a:pPr marL="873125" marR="5056505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10" dirty="0">
                <a:solidFill>
                  <a:srgbClr val="1F3A93"/>
                </a:solidFill>
                <a:latin typeface="Arial MT"/>
                <a:cs typeface="Arial MT"/>
              </a:rPr>
              <a:t>Priori</a:t>
            </a:r>
            <a:r>
              <a:rPr lang="en-IN" sz="2450" spc="-10" dirty="0">
                <a:solidFill>
                  <a:srgbClr val="1F3A93"/>
                </a:solidFill>
                <a:latin typeface="Arial MT"/>
                <a:cs typeface="Arial MT"/>
              </a:rPr>
              <a:t>t</a:t>
            </a:r>
            <a:r>
              <a:rPr sz="2450" spc="-10" dirty="0">
                <a:solidFill>
                  <a:srgbClr val="1F3A93"/>
                </a:solidFill>
                <a:latin typeface="Arial MT"/>
                <a:cs typeface="Arial MT"/>
              </a:rPr>
              <a:t>y</a:t>
            </a:r>
            <a:endParaRPr sz="2450" dirty="0">
              <a:latin typeface="Arial MT"/>
              <a:cs typeface="Arial MT"/>
            </a:endParaRPr>
          </a:p>
          <a:p>
            <a:pPr marL="873125" marR="4144010" indent="-34290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sz="2450" spc="-60" dirty="0">
                <a:solidFill>
                  <a:srgbClr val="1F3A93"/>
                </a:solidFill>
                <a:latin typeface="Arial MT"/>
                <a:cs typeface="Arial MT"/>
              </a:rPr>
              <a:t>Resolution</a:t>
            </a:r>
            <a:r>
              <a:rPr sz="2450" spc="-10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1F3A93"/>
                </a:solidFill>
                <a:latin typeface="Arial MT"/>
                <a:cs typeface="Arial MT"/>
              </a:rPr>
              <a:t>Time </a:t>
            </a:r>
            <a:r>
              <a:rPr lang="en-IN" sz="2450" spc="-55" dirty="0">
                <a:solidFill>
                  <a:srgbClr val="1F3A93"/>
                </a:solidFill>
                <a:latin typeface="Arial MT"/>
                <a:cs typeface="Arial MT"/>
              </a:rPr>
              <a:t>(</a:t>
            </a:r>
            <a:r>
              <a:rPr sz="2450" spc="-20" dirty="0">
                <a:solidFill>
                  <a:srgbClr val="1F3A93"/>
                </a:solidFill>
                <a:latin typeface="Arial MT"/>
                <a:cs typeface="Arial MT"/>
              </a:rPr>
              <a:t>CSAT</a:t>
            </a:r>
            <a:r>
              <a:rPr lang="en-IN" sz="2450" spc="-20" dirty="0">
                <a:solidFill>
                  <a:srgbClr val="1F3A93"/>
                </a:solidFill>
                <a:latin typeface="Arial MT"/>
                <a:cs typeface="Arial MT"/>
              </a:rPr>
              <a:t>)</a:t>
            </a:r>
            <a:endParaRPr sz="24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486400" y="723900"/>
            <a:ext cx="9780059" cy="1258678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015"/>
              </a:spcBef>
            </a:pPr>
            <a:r>
              <a:rPr spc="730" dirty="0"/>
              <a:t>Data </a:t>
            </a:r>
            <a:r>
              <a:rPr spc="405" dirty="0"/>
              <a:t>Overview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3C43ABEB-A215-5C21-FA0C-98DF68BDD564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76600" y="666217"/>
            <a:ext cx="13590059" cy="124906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5080">
              <a:lnSpc>
                <a:spcPts val="8700"/>
              </a:lnSpc>
              <a:spcBef>
                <a:spcPts val="1040"/>
              </a:spcBef>
            </a:pPr>
            <a:r>
              <a:rPr sz="7950" spc="610" dirty="0"/>
              <a:t>Methodology </a:t>
            </a:r>
            <a:r>
              <a:rPr sz="7950" spc="405" dirty="0"/>
              <a:t>Overview</a:t>
            </a:r>
            <a:endParaRPr sz="79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3446A-25E9-866E-5710-94A1A7DDA172}"/>
              </a:ext>
            </a:extLst>
          </p:cNvPr>
          <p:cNvSpPr txBox="1"/>
          <p:nvPr/>
        </p:nvSpPr>
        <p:spPr>
          <a:xfrm>
            <a:off x="4419600" y="2940491"/>
            <a:ext cx="9144000" cy="4147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15"/>
              </a:spcBef>
            </a:pPr>
            <a:r>
              <a:rPr lang="en-IN" sz="3200" b="1" spc="-155" dirty="0">
                <a:solidFill>
                  <a:srgbClr val="1F3A93"/>
                </a:solidFill>
                <a:latin typeface="Trebuchet MS"/>
                <a:cs typeface="Trebuchet MS"/>
              </a:rPr>
              <a:t>Key</a:t>
            </a:r>
            <a:r>
              <a:rPr lang="en-IN" sz="320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140" dirty="0">
                <a:solidFill>
                  <a:srgbClr val="1F3A93"/>
                </a:solidFill>
                <a:latin typeface="Trebuchet MS"/>
                <a:cs typeface="Trebuchet MS"/>
              </a:rPr>
              <a:t>analytical</a:t>
            </a:r>
            <a:r>
              <a:rPr lang="en-IN" sz="320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80" dirty="0">
                <a:solidFill>
                  <a:srgbClr val="1F3A93"/>
                </a:solidFill>
                <a:latin typeface="Trebuchet MS"/>
                <a:cs typeface="Trebuchet MS"/>
              </a:rPr>
              <a:t>processes</a:t>
            </a:r>
            <a:r>
              <a:rPr lang="en-IN" sz="320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80" dirty="0">
                <a:solidFill>
                  <a:srgbClr val="1F3A93"/>
                </a:solidFill>
                <a:latin typeface="Trebuchet MS"/>
                <a:cs typeface="Trebuchet MS"/>
              </a:rPr>
              <a:t>used</a:t>
            </a:r>
            <a:r>
              <a:rPr lang="en-IN" sz="3200" b="1" spc="-16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25" dirty="0">
                <a:solidFill>
                  <a:srgbClr val="1F3A93"/>
                </a:solidFill>
                <a:latin typeface="Trebuchet MS"/>
                <a:cs typeface="Trebuchet MS"/>
              </a:rPr>
              <a:t>for </a:t>
            </a:r>
            <a:r>
              <a:rPr lang="en-IN" sz="3200" b="1" spc="-175" dirty="0">
                <a:solidFill>
                  <a:srgbClr val="1F3A93"/>
                </a:solidFill>
                <a:latin typeface="Trebuchet MS"/>
                <a:cs typeface="Trebuchet MS"/>
              </a:rPr>
              <a:t>effective</a:t>
            </a:r>
            <a:r>
              <a:rPr lang="en-IN" sz="3200" b="1" spc="-14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120" dirty="0">
                <a:solidFill>
                  <a:srgbClr val="1F3A93"/>
                </a:solidFill>
                <a:latin typeface="Trebuchet MS"/>
                <a:cs typeface="Trebuchet MS"/>
              </a:rPr>
              <a:t>data</a:t>
            </a:r>
            <a:r>
              <a:rPr lang="en-IN" sz="3200" b="1" spc="-14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75" dirty="0">
                <a:solidFill>
                  <a:srgbClr val="1F3A93"/>
                </a:solidFill>
                <a:latin typeface="Trebuchet MS"/>
                <a:cs typeface="Trebuchet MS"/>
              </a:rPr>
              <a:t>assessment</a:t>
            </a:r>
            <a:r>
              <a:rPr lang="en-IN" sz="3200" b="1" spc="-140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100" dirty="0">
                <a:solidFill>
                  <a:srgbClr val="1F3A93"/>
                </a:solidFill>
                <a:latin typeface="Trebuchet MS"/>
                <a:cs typeface="Trebuchet MS"/>
              </a:rPr>
              <a:t>and</a:t>
            </a:r>
            <a:r>
              <a:rPr lang="en-IN" sz="3200" b="1" spc="-145" dirty="0">
                <a:solidFill>
                  <a:srgbClr val="1F3A93"/>
                </a:solidFill>
                <a:latin typeface="Trebuchet MS"/>
                <a:cs typeface="Trebuchet MS"/>
              </a:rPr>
              <a:t> </a:t>
            </a:r>
            <a:r>
              <a:rPr lang="en-IN" sz="3200" b="1" spc="-40" dirty="0">
                <a:solidFill>
                  <a:srgbClr val="1F3A93"/>
                </a:solidFill>
                <a:latin typeface="Trebuchet MS"/>
                <a:cs typeface="Trebuchet MS"/>
              </a:rPr>
              <a:t>insights</a:t>
            </a:r>
            <a:endParaRPr lang="en-IN"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30"/>
              </a:spcBef>
            </a:pPr>
            <a:endParaRPr lang="en-IN" sz="2400" dirty="0">
              <a:latin typeface="Trebuchet MS"/>
              <a:cs typeface="Trebuchet MS"/>
            </a:endParaRPr>
          </a:p>
          <a:p>
            <a:pPr marL="815975" marR="1568450" indent="-28575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lang="en-IN" sz="2400" spc="-65" dirty="0">
                <a:solidFill>
                  <a:srgbClr val="1F3A93"/>
                </a:solidFill>
                <a:latin typeface="Arial MT"/>
                <a:cs typeface="Arial MT"/>
              </a:rPr>
              <a:t>Data</a:t>
            </a:r>
            <a:r>
              <a:rPr lang="en-IN" sz="2400" spc="-8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35" dirty="0">
                <a:solidFill>
                  <a:srgbClr val="1F3A93"/>
                </a:solidFill>
                <a:latin typeface="Arial MT"/>
                <a:cs typeface="Arial MT"/>
              </a:rPr>
              <a:t>cleaning</a:t>
            </a:r>
            <a:r>
              <a:rPr lang="en-IN" sz="2400" spc="-8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1F3A93"/>
                </a:solidFill>
                <a:latin typeface="Arial MT"/>
                <a:cs typeface="Arial MT"/>
              </a:rPr>
              <a:t>to</a:t>
            </a:r>
            <a:r>
              <a:rPr lang="en-IN" sz="2400" spc="-7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50" dirty="0">
                <a:solidFill>
                  <a:srgbClr val="1F3A93"/>
                </a:solidFill>
                <a:latin typeface="Arial MT"/>
                <a:cs typeface="Arial MT"/>
              </a:rPr>
              <a:t>ensure</a:t>
            </a:r>
            <a:r>
              <a:rPr lang="en-IN" sz="2400" spc="-8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10" dirty="0">
                <a:solidFill>
                  <a:srgbClr val="1F3A93"/>
                </a:solidFill>
                <a:latin typeface="Arial MT"/>
                <a:cs typeface="Arial MT"/>
              </a:rPr>
              <a:t>accuracy </a:t>
            </a:r>
            <a:endParaRPr lang="en-IN" sz="2400" spc="-65" dirty="0">
              <a:solidFill>
                <a:srgbClr val="1F3A93"/>
              </a:solidFill>
              <a:latin typeface="Arial MT"/>
              <a:cs typeface="Arial MT"/>
            </a:endParaRPr>
          </a:p>
          <a:p>
            <a:pPr marL="815975" marR="1568450" indent="-28575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lang="en-IN" sz="2400" spc="-65" dirty="0">
                <a:solidFill>
                  <a:srgbClr val="1F3A93"/>
                </a:solidFill>
                <a:latin typeface="Arial MT"/>
                <a:cs typeface="Arial MT"/>
              </a:rPr>
              <a:t>Functions (Aggregate Functions &amp; Conditional Functions)</a:t>
            </a:r>
          </a:p>
          <a:p>
            <a:pPr marL="815975" marR="1568450" indent="-28575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lang="en-IN" sz="2400" spc="-90" dirty="0">
                <a:solidFill>
                  <a:srgbClr val="1F3A93"/>
                </a:solidFill>
                <a:latin typeface="Arial MT"/>
                <a:cs typeface="Arial MT"/>
              </a:rPr>
              <a:t>Trend</a:t>
            </a:r>
            <a:r>
              <a:rPr lang="en-IN" sz="2400" spc="-6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75" dirty="0">
                <a:solidFill>
                  <a:srgbClr val="1F3A93"/>
                </a:solidFill>
                <a:latin typeface="Arial MT"/>
                <a:cs typeface="Arial MT"/>
              </a:rPr>
              <a:t>analysis</a:t>
            </a:r>
            <a:r>
              <a:rPr lang="en-IN" sz="2400" spc="-6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1F3A93"/>
                </a:solidFill>
                <a:latin typeface="Arial MT"/>
                <a:cs typeface="Arial MT"/>
              </a:rPr>
              <a:t>for</a:t>
            </a:r>
            <a:r>
              <a:rPr lang="en-IN" sz="2400" spc="-6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10" dirty="0">
                <a:solidFill>
                  <a:srgbClr val="1F3A93"/>
                </a:solidFill>
                <a:latin typeface="Arial MT"/>
                <a:cs typeface="Arial MT"/>
              </a:rPr>
              <a:t>patterns &amp; Over time Analysis</a:t>
            </a:r>
            <a:endParaRPr lang="en-IN" sz="2400" dirty="0">
              <a:latin typeface="Arial MT"/>
              <a:cs typeface="Arial MT"/>
            </a:endParaRPr>
          </a:p>
          <a:p>
            <a:pPr marL="815975" marR="1746885" indent="-28575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lang="en-IN" sz="2400" spc="-40" dirty="0">
                <a:solidFill>
                  <a:srgbClr val="1F3A93"/>
                </a:solidFill>
                <a:latin typeface="Arial MT"/>
                <a:cs typeface="Arial MT"/>
              </a:rPr>
              <a:t>Pivot</a:t>
            </a:r>
            <a:r>
              <a:rPr lang="en-IN" sz="2400" spc="-114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25" dirty="0">
                <a:solidFill>
                  <a:srgbClr val="1F3A93"/>
                </a:solidFill>
                <a:latin typeface="Arial MT"/>
                <a:cs typeface="Arial MT"/>
              </a:rPr>
              <a:t>tables</a:t>
            </a:r>
            <a:r>
              <a:rPr lang="en-IN" sz="2400" spc="-11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1F3A93"/>
                </a:solidFill>
                <a:latin typeface="Arial MT"/>
                <a:cs typeface="Arial MT"/>
              </a:rPr>
              <a:t>for</a:t>
            </a:r>
            <a:r>
              <a:rPr lang="en-IN" sz="2400" spc="-10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65" dirty="0">
                <a:solidFill>
                  <a:srgbClr val="1F3A93"/>
                </a:solidFill>
                <a:latin typeface="Arial MT"/>
                <a:cs typeface="Arial MT"/>
              </a:rPr>
              <a:t>summarizing</a:t>
            </a:r>
            <a:r>
              <a:rPr lang="en-IN" sz="2400" spc="-10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20" dirty="0">
                <a:solidFill>
                  <a:srgbClr val="1F3A93"/>
                </a:solidFill>
                <a:latin typeface="Arial MT"/>
                <a:cs typeface="Arial MT"/>
              </a:rPr>
              <a:t>data</a:t>
            </a:r>
          </a:p>
          <a:p>
            <a:pPr marL="815975" marR="1746885" indent="-285750">
              <a:lnSpc>
                <a:spcPct val="104600"/>
              </a:lnSpc>
              <a:buFont typeface="Arial" panose="020B0604020202020204" pitchFamily="34" charset="0"/>
              <a:buChar char="•"/>
            </a:pPr>
            <a:r>
              <a:rPr lang="en-IN" sz="2400" spc="-150" dirty="0">
                <a:solidFill>
                  <a:srgbClr val="1F3A93"/>
                </a:solidFill>
                <a:latin typeface="Arial MT"/>
                <a:cs typeface="Arial MT"/>
              </a:rPr>
              <a:t>VLOOKUP &amp; XLOOKUP</a:t>
            </a:r>
            <a:r>
              <a:rPr lang="en-IN" sz="2400" spc="-6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1F3A93"/>
                </a:solidFill>
                <a:latin typeface="Arial MT"/>
                <a:cs typeface="Arial MT"/>
              </a:rPr>
              <a:t>for</a:t>
            </a:r>
            <a:r>
              <a:rPr lang="en-IN" sz="2400" spc="-95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25" dirty="0">
                <a:solidFill>
                  <a:srgbClr val="1F3A93"/>
                </a:solidFill>
                <a:latin typeface="Arial MT"/>
                <a:cs typeface="Arial MT"/>
              </a:rPr>
              <a:t>data</a:t>
            </a:r>
            <a:r>
              <a:rPr lang="en-IN" sz="2400" spc="-80" dirty="0">
                <a:solidFill>
                  <a:srgbClr val="1F3A93"/>
                </a:solidFill>
                <a:latin typeface="Arial MT"/>
                <a:cs typeface="Arial MT"/>
              </a:rPr>
              <a:t> </a:t>
            </a:r>
            <a:r>
              <a:rPr lang="en-IN" sz="2400" spc="-10" dirty="0">
                <a:solidFill>
                  <a:srgbClr val="1F3A93"/>
                </a:solidFill>
                <a:latin typeface="Arial MT"/>
                <a:cs typeface="Arial MT"/>
              </a:rPr>
              <a:t>integration</a:t>
            </a:r>
            <a:endParaRPr lang="en-IN" sz="2400" dirty="0">
              <a:latin typeface="Arial MT"/>
              <a:cs typeface="Arial M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26E04AA-7CB0-234A-B2E1-E14E0737B0B3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6" y="154903"/>
            <a:ext cx="14128751" cy="136062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r>
              <a:rPr lang="en-IN" sz="8000" spc="-25" dirty="0">
                <a:solidFill>
                  <a:srgbClr val="1F3A93"/>
                </a:solidFill>
                <a:latin typeface="Arial MT"/>
              </a:rPr>
              <a:t>Ticket Volume over time</a:t>
            </a: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3CAB2-A319-E525-C22B-FDAFF74E5EEC}"/>
              </a:ext>
            </a:extLst>
          </p:cNvPr>
          <p:cNvSpPr txBox="1"/>
          <p:nvPr/>
        </p:nvSpPr>
        <p:spPr>
          <a:xfrm>
            <a:off x="666736" y="4394868"/>
            <a:ext cx="5810263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50" spc="-25" dirty="0">
              <a:solidFill>
                <a:srgbClr val="1F3A93"/>
              </a:solidFill>
              <a:latin typeface="Arial 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Rapid growth in ticket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Daily tickets doubled from ~35 to ~80.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Urgent need to increase support capacity.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0F50ED2-B6AD-4A44-985A-D88363B35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1803823"/>
              </p:ext>
            </p:extLst>
          </p:nvPr>
        </p:nvGraphicFramePr>
        <p:xfrm>
          <a:off x="7010400" y="1943100"/>
          <a:ext cx="10972800" cy="8039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0" y="226788"/>
            <a:ext cx="18624552" cy="1424877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spc="-25" dirty="0">
                <a:solidFill>
                  <a:srgbClr val="1F3A93"/>
                </a:solidFill>
                <a:latin typeface="Arial MT"/>
              </a:rPr>
              <a:t>Ticket volume over year &amp; months</a:t>
            </a: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9C27A-CF2B-CF4F-F6B6-7172A9777F80}"/>
              </a:ext>
            </a:extLst>
          </p:cNvPr>
          <p:cNvSpPr txBox="1"/>
          <p:nvPr/>
        </p:nvSpPr>
        <p:spPr>
          <a:xfrm>
            <a:off x="974271" y="4096541"/>
            <a:ext cx="634092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Ticket volume increased steadily year over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13,051 tickets in 2016 grew to 29,088 in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2020 recorded the highest volume, nearly double that of 2016.</a:t>
            </a: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7009626-E274-94BE-2F22-61356124F0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029996"/>
              </p:ext>
            </p:extLst>
          </p:nvPr>
        </p:nvGraphicFramePr>
        <p:xfrm>
          <a:off x="7315200" y="1943100"/>
          <a:ext cx="10668000" cy="7677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399361"/>
            <a:ext cx="10668000" cy="1258678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015"/>
              </a:spcBef>
            </a:pPr>
            <a:r>
              <a:rPr lang="en-IN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IN" sz="8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ost-benefit analysis </a:t>
            </a:r>
            <a:endParaRPr lang="en-IN" spc="650" dirty="0"/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2DE7C-394A-F39D-557E-BBBF2F8D6FA1}"/>
              </a:ext>
            </a:extLst>
          </p:cNvPr>
          <p:cNvSpPr txBox="1"/>
          <p:nvPr/>
        </p:nvSpPr>
        <p:spPr>
          <a:xfrm>
            <a:off x="666737" y="3925834"/>
            <a:ext cx="6553200" cy="286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44% → System-related delays affecting agent performance.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34% → Agents needing training due to high resolution times and low satisfaction.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22% → Well-performing agents with good resolution times and high satisfaction.</a:t>
            </a:r>
            <a:endParaRPr lang="en-IN" sz="245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D4CD871-38D7-0B18-1BA5-F56D87A055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075073"/>
              </p:ext>
            </p:extLst>
          </p:nvPr>
        </p:nvGraphicFramePr>
        <p:xfrm>
          <a:off x="6858000" y="1525378"/>
          <a:ext cx="11125200" cy="7732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8" y="593788"/>
            <a:ext cx="17481552" cy="1258037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010"/>
              </a:spcBef>
            </a:pPr>
            <a:r>
              <a:rPr lang="en-IN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IN" sz="8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gents need additional training </a:t>
            </a:r>
            <a:endParaRPr lang="en-IN" spc="509" dirty="0"/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666737" y="4610100"/>
            <a:ext cx="6953263" cy="1892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50" spc="-25" dirty="0">
                <a:solidFill>
                  <a:srgbClr val="1F3A93"/>
                </a:solidFill>
                <a:latin typeface="Arial MT"/>
              </a:rPr>
              <a:t>17 agents need training due to high resolution times and low satisfaction scores.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50" spc="-25" dirty="0">
                <a:solidFill>
                  <a:srgbClr val="1F3A93"/>
                </a:solidFill>
                <a:latin typeface="Arial MT"/>
              </a:rPr>
              <a:t>Performance gaps indicate the need for targeted coaching.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424E9C5-76EC-4126-F0E6-21E8F3AF69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245433"/>
              </p:ext>
            </p:extLst>
          </p:nvPr>
        </p:nvGraphicFramePr>
        <p:xfrm>
          <a:off x="7562863" y="2933700"/>
          <a:ext cx="10058400" cy="6208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8" y="593788"/>
            <a:ext cx="17481552" cy="147553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esolution times by request category</a:t>
            </a: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457200" y="3848100"/>
            <a:ext cx="6953263" cy="286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Hardware requests take the longest to resolve, with an average of 7.6 days.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System requests are the second slowest, averaging 6.6 days.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Login Access requests resolve the fastest, with an average of 0.31 days (less than a day).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D86BE57-294B-4E6C-9B52-EF3942D4A1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2089091"/>
              </p:ext>
            </p:extLst>
          </p:nvPr>
        </p:nvGraphicFramePr>
        <p:xfrm>
          <a:off x="7620000" y="2705100"/>
          <a:ext cx="10515600" cy="739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6626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8100"/>
            <a:ext cx="18764263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Metrics Before and After System Upgrade(Satisfaction rate)</a:t>
            </a:r>
            <a:endParaRPr lang="en-IN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282146" y="4762500"/>
            <a:ext cx="6953263" cy="2845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Customer Satisfaction: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The average satisfaction score increased slightly from 4.05 to 4.14, representing a 2.12% improvement.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450" spc="-25" dirty="0">
              <a:solidFill>
                <a:srgbClr val="1F3A93"/>
              </a:solidFill>
              <a:latin typeface="Arial MT"/>
            </a:endParaRP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EC8790-E1FD-2512-D982-A43AA96079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2305458"/>
              </p:ext>
            </p:extLst>
          </p:nvPr>
        </p:nvGraphicFramePr>
        <p:xfrm>
          <a:off x="7162800" y="3848100"/>
          <a:ext cx="10972800" cy="6248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937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8100"/>
            <a:ext cx="18764263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Metrics Before and After System Upgrade(Resolution time)</a:t>
            </a:r>
            <a:endParaRPr lang="en-IN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533400" y="5143500"/>
            <a:ext cx="6953263" cy="2845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Resolution Time: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he average resolution time changed marginally from 109.14 hours to 109.41 hours (a 0.24% increase).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50" spc="-25" dirty="0">
              <a:solidFill>
                <a:srgbClr val="1F3A93"/>
              </a:solidFill>
              <a:latin typeface="Arial MT"/>
            </a:endParaRPr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261C484-DB7B-DD84-92E9-A3B80BC973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221915"/>
              </p:ext>
            </p:extLst>
          </p:nvPr>
        </p:nvGraphicFramePr>
        <p:xfrm>
          <a:off x="7772400" y="3543300"/>
          <a:ext cx="10515600" cy="647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9427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Trend analysis using time series charts(</a:t>
            </a:r>
            <a: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atisfaction rate)</a:t>
            </a: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666737" y="4300587"/>
            <a:ext cx="6953263" cy="329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Satisfaction rates stay consistently high, ranging between 4.07 and 4.15.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January has the highest score (4.15), while February–March show the lowest (~4.07).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The overall average satisfaction rate is 4.10, showing stable customer experience across all months.</a:t>
            </a: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297EC8B-7C39-3B79-3E57-DDC98307F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172757"/>
              </p:ext>
            </p:extLst>
          </p:nvPr>
        </p:nvGraphicFramePr>
        <p:xfrm>
          <a:off x="7734300" y="3276601"/>
          <a:ext cx="10375889" cy="6468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5652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Trend analysis using time series charts(Resolution time)</a:t>
            </a: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457200" y="4610100"/>
            <a:ext cx="6953263" cy="286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Resolution times remain stable, fluctuating only between 108 and 111 hours.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June shows the slowest resolution time (110.87 hours).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August and September are the fastest, with resolution times near 108 hours.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A0E4B5B-F913-0E08-1502-EBE95062B9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9646414"/>
              </p:ext>
            </p:extLst>
          </p:nvPr>
        </p:nvGraphicFramePr>
        <p:xfrm>
          <a:off x="7620000" y="3467101"/>
          <a:ext cx="10528289" cy="647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831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Overtime Improvement</a:t>
            </a:r>
            <a:b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(Resolution time)</a:t>
            </a:r>
            <a:endParaRPr lang="en-IN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438137" y="4838700"/>
            <a:ext cx="6953263" cy="2223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During the same period, the average resolution time (in days or equivalent) remained stable, fluctuating slightly between 4.50 to 4.58, which indicates consistent efficiency despite growth in support activities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07B3DB1-78CC-AD13-11DC-85B94617A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554249"/>
              </p:ext>
            </p:extLst>
          </p:nvPr>
        </p:nvGraphicFramePr>
        <p:xfrm>
          <a:off x="7391400" y="3350280"/>
          <a:ext cx="10756889" cy="644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9567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Overtime Improvement</a:t>
            </a:r>
            <a:b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(Satisfaction time)</a:t>
            </a:r>
            <a:endParaRPr lang="en-IN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644966" y="4872987"/>
            <a:ext cx="6953263" cy="1789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The data shows a steady improvement in satisfaction rates across years, quarters, and months — from an average of 3.97 (Year 1) to around 4.16 (Year 5).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832F5DC-D982-73CB-73DB-033C62AB7F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07904"/>
              </p:ext>
            </p:extLst>
          </p:nvPr>
        </p:nvGraphicFramePr>
        <p:xfrm>
          <a:off x="7598230" y="3619500"/>
          <a:ext cx="1055006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3600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147553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– </a:t>
            </a:r>
            <a: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 </a:t>
            </a:r>
            <a:r>
              <a:rPr lang="en-IN" sz="8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Ticket resolved  by Agents </a:t>
            </a: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335578" y="4666961"/>
            <a:ext cx="6953263" cy="1892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Top performer: Agent 48 resolved the highest number of tickets (2027).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Lowest performer: Agent 13 resolved the fewest tickets (1856).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BA04239-EE90-F18F-926D-C63E8518BE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0901178"/>
              </p:ext>
            </p:extLst>
          </p:nvPr>
        </p:nvGraphicFramePr>
        <p:xfrm>
          <a:off x="7015843" y="3702501"/>
          <a:ext cx="10942022" cy="5908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8634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IN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mployee demographics impact on satisfaction and ticket outcomes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533400" y="3799597"/>
            <a:ext cx="6953263" cy="4162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Young agents (18–30) achieve the highest satisfaction (4.21), reflecting the strongest service quality.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Mid-career agents (31–40) show stable performance with solid satisfaction levels (4.12).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Senior agents (41+) have the lowest satisfaction (4.05) despite handling the highest ticket volume.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7A7533C-8C71-7965-1E07-27EAD3D84C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060778"/>
              </p:ext>
            </p:extLst>
          </p:nvPr>
        </p:nvGraphicFramePr>
        <p:xfrm>
          <a:off x="7486663" y="3544448"/>
          <a:ext cx="10058400" cy="6530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569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37" y="199095"/>
            <a:ext cx="17481552" cy="28913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support operations based on ticket volumes and satisfaction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533401" y="4076700"/>
            <a:ext cx="5943600" cy="3193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Peak Time (Volume): The later years ({2019-2020}) represent the highest operational load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Tuesday to Friday shows relatively stable, high volume. Weekends (Saturday/Sunday) are the off-peak time.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6BE010E-9580-346C-EB6E-E8F99C1D47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174455"/>
              </p:ext>
            </p:extLst>
          </p:nvPr>
        </p:nvGraphicFramePr>
        <p:xfrm>
          <a:off x="7086600" y="3848100"/>
          <a:ext cx="11061689" cy="6239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45264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8" y="596423"/>
            <a:ext cx="10013951" cy="532325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8100"/>
              </a:lnSpc>
              <a:spcBef>
                <a:spcPts val="1010"/>
              </a:spcBef>
            </a:pPr>
            <a:r>
              <a:rPr sz="7400" spc="690" dirty="0"/>
              <a:t>Dashboard </a:t>
            </a:r>
            <a:r>
              <a:rPr sz="7400" spc="785" dirty="0"/>
              <a:t>and</a:t>
            </a:r>
            <a:r>
              <a:rPr lang="en-IN" sz="7400" spc="785" dirty="0"/>
              <a:t> </a:t>
            </a:r>
            <a:r>
              <a:rPr sz="7400" spc="440" dirty="0"/>
              <a:t>Visualizations</a:t>
            </a:r>
            <a:br>
              <a:rPr lang="en-IN" sz="7400" spc="440" dirty="0"/>
            </a:br>
            <a:br>
              <a:rPr lang="en-IN" sz="7400" spc="440" dirty="0"/>
            </a:br>
            <a:r>
              <a:rPr lang="en-IN" sz="7400" spc="440" dirty="0"/>
              <a:t>Executive sales Dashboard</a:t>
            </a:r>
            <a:endParaRPr sz="7400" dirty="0"/>
          </a:p>
        </p:txBody>
      </p:sp>
      <p:sp>
        <p:nvSpPr>
          <p:cNvPr id="4" name="object 4"/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8873E99-5C7D-3603-7BD8-B392C789D727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DA4C0-19EB-FB54-CB6D-451B46AC5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94" y="1012190"/>
            <a:ext cx="1710301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67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461704"/>
            <a:ext cx="9785352" cy="3473450"/>
          </a:xfrm>
        </p:spPr>
        <p:txBody>
          <a:bodyPr vert="horz" wrap="square" lIns="0" tIns="0" rIns="0" bIns="0" rtlCol="0">
            <a:normAutofit/>
          </a:bodyPr>
          <a:lstStyle/>
          <a:p>
            <a:pPr>
              <a:spcAft>
                <a:spcPts val="800"/>
              </a:spcAft>
            </a:pPr>
            <a:r>
              <a:rPr lang="en-IN" kern="100" dirty="0"/>
              <a:t>Recommendations</a:t>
            </a:r>
            <a:endParaRPr lang="en-IN" b="1" i="0" kern="100" dirty="0">
              <a:effectLst/>
              <a:latin typeface="Trebuchet MS"/>
              <a:ea typeface="+mj-ea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9418320" y="2366010"/>
            <a:ext cx="12832080" cy="10702290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pc="-25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DD73A-94A3-8F00-067C-BEB77DDF2FE3}"/>
              </a:ext>
            </a:extLst>
          </p:cNvPr>
          <p:cNvSpPr txBox="1"/>
          <p:nvPr/>
        </p:nvSpPr>
        <p:spPr>
          <a:xfrm>
            <a:off x="990600" y="2366010"/>
            <a:ext cx="11127920" cy="480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Increase support capacity by adding staff or automation, especially during busy weekdays and as ticket volume continues to grow each year.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Fix system-related issues first and improve hardware/system support, as these cause the biggest delays and affect resolution time.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Provide targeted training to the 17 struggling agents and offer special coaching to senior agents to improve satisfaction levels.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Study top-performing agents and successful months (Aug–Sep) to replicate fast resolution practices and improve slow periods like Feb–Mar.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Keep improving customer satisfaction by enhancing the upgraded system and maintaining the processes that already deliver steady resolution speed.</a:t>
            </a:r>
            <a:endParaRPr lang="en-IN" sz="2450" spc="-25" dirty="0">
              <a:solidFill>
                <a:srgbClr val="1F3A93"/>
              </a:solidFill>
              <a:latin typeface="Arial M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04D6918-746E-E9CE-1EF5-76B7FDA4BE16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0198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257" y="495300"/>
            <a:ext cx="9785352" cy="3473450"/>
          </a:xfrm>
        </p:spPr>
        <p:txBody>
          <a:bodyPr vert="horz" wrap="square" lIns="0" tIns="0" rIns="0" bIns="0" rtlCol="0">
            <a:normAutofit/>
          </a:bodyPr>
          <a:lstStyle/>
          <a:p>
            <a:pPr>
              <a:spcAft>
                <a:spcPts val="800"/>
              </a:spcAft>
            </a:pPr>
            <a:r>
              <a:rPr lang="en-IN" b="1" i="0" kern="100" dirty="0">
                <a:effectLst/>
                <a:latin typeface="Trebuchet MS"/>
                <a:ea typeface="+mj-ea"/>
                <a:cs typeface="Trebuchet MS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13CA-9F71-A2C4-D571-6B0788C1EA54}"/>
              </a:ext>
            </a:extLst>
          </p:cNvPr>
          <p:cNvSpPr txBox="1"/>
          <p:nvPr/>
        </p:nvSpPr>
        <p:spPr>
          <a:xfrm>
            <a:off x="9418320" y="2366010"/>
            <a:ext cx="12832080" cy="10702290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pc="-25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DD73A-94A3-8F00-067C-BEB77DDF2FE3}"/>
              </a:ext>
            </a:extLst>
          </p:cNvPr>
          <p:cNvSpPr txBox="1"/>
          <p:nvPr/>
        </p:nvSpPr>
        <p:spPr>
          <a:xfrm>
            <a:off x="990600" y="2366010"/>
            <a:ext cx="11127920" cy="480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Ticket numbers are increasing fast, so the support team needs more people or better tools.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Many delays happen because of system issues and some agents need extra training.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Customer satisfaction and resolution time are mostly stable, but improvements after the upgrade were very small.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Some agents perform much better than others, and younger agents usually get higher satisfaction scores.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50" spc="-25" dirty="0">
                <a:solidFill>
                  <a:srgbClr val="1F3A93"/>
                </a:solidFill>
                <a:latin typeface="Arial MT"/>
              </a:rPr>
              <a:t>Support work is busiest on weekdays and in recent years, so resources should be planned better during peak times.</a:t>
            </a:r>
            <a:endParaRPr lang="en-IN" sz="2450" spc="-25" dirty="0">
              <a:solidFill>
                <a:srgbClr val="1F3A93"/>
              </a:solidFill>
              <a:latin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30F016-E73C-DA2C-9430-D87EB962D59B}"/>
              </a:ext>
            </a:extLst>
          </p:cNvPr>
          <p:cNvSpPr/>
          <p:nvPr/>
        </p:nvSpPr>
        <p:spPr>
          <a:xfrm>
            <a:off x="666737" y="8189493"/>
            <a:ext cx="2861945" cy="1431290"/>
          </a:xfrm>
          <a:custGeom>
            <a:avLst/>
            <a:gdLst/>
            <a:ahLst/>
            <a:cxnLst/>
            <a:rect l="l" t="t" r="r" b="b"/>
            <a:pathLst>
              <a:path w="2861945" h="1431290">
                <a:moveTo>
                  <a:pt x="1430769" y="0"/>
                </a:moveTo>
                <a:lnTo>
                  <a:pt x="0" y="0"/>
                </a:lnTo>
                <a:lnTo>
                  <a:pt x="0" y="1430756"/>
                </a:lnTo>
                <a:lnTo>
                  <a:pt x="1430769" y="1430756"/>
                </a:lnTo>
                <a:lnTo>
                  <a:pt x="1430769" y="715378"/>
                </a:lnTo>
                <a:lnTo>
                  <a:pt x="1430769" y="0"/>
                </a:lnTo>
                <a:close/>
              </a:path>
              <a:path w="2861945" h="1431290">
                <a:moveTo>
                  <a:pt x="2861526" y="715378"/>
                </a:moveTo>
                <a:lnTo>
                  <a:pt x="2859875" y="666407"/>
                </a:lnTo>
                <a:lnTo>
                  <a:pt x="2854985" y="618312"/>
                </a:lnTo>
                <a:lnTo>
                  <a:pt x="2846984" y="571207"/>
                </a:lnTo>
                <a:lnTo>
                  <a:pt x="2835973" y="525208"/>
                </a:lnTo>
                <a:lnTo>
                  <a:pt x="2822041" y="480415"/>
                </a:lnTo>
                <a:lnTo>
                  <a:pt x="2805303" y="436930"/>
                </a:lnTo>
                <a:lnTo>
                  <a:pt x="2785872" y="394855"/>
                </a:lnTo>
                <a:lnTo>
                  <a:pt x="2763850" y="354317"/>
                </a:lnTo>
                <a:lnTo>
                  <a:pt x="2739352" y="315404"/>
                </a:lnTo>
                <a:lnTo>
                  <a:pt x="2712466" y="278231"/>
                </a:lnTo>
                <a:lnTo>
                  <a:pt x="2683306" y="242912"/>
                </a:lnTo>
                <a:lnTo>
                  <a:pt x="2651988" y="209537"/>
                </a:lnTo>
                <a:lnTo>
                  <a:pt x="2618613" y="178219"/>
                </a:lnTo>
                <a:lnTo>
                  <a:pt x="2583294" y="149059"/>
                </a:lnTo>
                <a:lnTo>
                  <a:pt x="2546121" y="122186"/>
                </a:lnTo>
                <a:lnTo>
                  <a:pt x="2507208" y="97675"/>
                </a:lnTo>
                <a:lnTo>
                  <a:pt x="2466670" y="75653"/>
                </a:lnTo>
                <a:lnTo>
                  <a:pt x="2424595" y="56222"/>
                </a:lnTo>
                <a:lnTo>
                  <a:pt x="2381110" y="39484"/>
                </a:lnTo>
                <a:lnTo>
                  <a:pt x="2336317" y="25565"/>
                </a:lnTo>
                <a:lnTo>
                  <a:pt x="2290318" y="14541"/>
                </a:lnTo>
                <a:lnTo>
                  <a:pt x="2243213" y="6540"/>
                </a:lnTo>
                <a:lnTo>
                  <a:pt x="2195118" y="1651"/>
                </a:lnTo>
                <a:lnTo>
                  <a:pt x="2146147" y="0"/>
                </a:lnTo>
                <a:lnTo>
                  <a:pt x="2097163" y="1651"/>
                </a:lnTo>
                <a:lnTo>
                  <a:pt x="2049068" y="6540"/>
                </a:lnTo>
                <a:lnTo>
                  <a:pt x="2001964" y="14541"/>
                </a:lnTo>
                <a:lnTo>
                  <a:pt x="1955965" y="25565"/>
                </a:lnTo>
                <a:lnTo>
                  <a:pt x="1911172" y="39484"/>
                </a:lnTo>
                <a:lnTo>
                  <a:pt x="1867687" y="56222"/>
                </a:lnTo>
                <a:lnTo>
                  <a:pt x="1825625" y="75653"/>
                </a:lnTo>
                <a:lnTo>
                  <a:pt x="1785073" y="97675"/>
                </a:lnTo>
                <a:lnTo>
                  <a:pt x="1746173" y="122186"/>
                </a:lnTo>
                <a:lnTo>
                  <a:pt x="1709000" y="149059"/>
                </a:lnTo>
                <a:lnTo>
                  <a:pt x="1673669" y="178219"/>
                </a:lnTo>
                <a:lnTo>
                  <a:pt x="1640293" y="209537"/>
                </a:lnTo>
                <a:lnTo>
                  <a:pt x="1608975" y="242912"/>
                </a:lnTo>
                <a:lnTo>
                  <a:pt x="1579816" y="278231"/>
                </a:lnTo>
                <a:lnTo>
                  <a:pt x="1552943" y="315404"/>
                </a:lnTo>
                <a:lnTo>
                  <a:pt x="1528432" y="354317"/>
                </a:lnTo>
                <a:lnTo>
                  <a:pt x="1506410" y="394855"/>
                </a:lnTo>
                <a:lnTo>
                  <a:pt x="1486979" y="436930"/>
                </a:lnTo>
                <a:lnTo>
                  <a:pt x="1470253" y="480415"/>
                </a:lnTo>
                <a:lnTo>
                  <a:pt x="1456321" y="525208"/>
                </a:lnTo>
                <a:lnTo>
                  <a:pt x="1445298" y="571207"/>
                </a:lnTo>
                <a:lnTo>
                  <a:pt x="1437297" y="618312"/>
                </a:lnTo>
                <a:lnTo>
                  <a:pt x="1432420" y="666407"/>
                </a:lnTo>
                <a:lnTo>
                  <a:pt x="1430769" y="715378"/>
                </a:lnTo>
                <a:lnTo>
                  <a:pt x="1432420" y="764362"/>
                </a:lnTo>
                <a:lnTo>
                  <a:pt x="1437297" y="812457"/>
                </a:lnTo>
                <a:lnTo>
                  <a:pt x="1445298" y="859561"/>
                </a:lnTo>
                <a:lnTo>
                  <a:pt x="1456321" y="905560"/>
                </a:lnTo>
                <a:lnTo>
                  <a:pt x="1470253" y="950353"/>
                </a:lnTo>
                <a:lnTo>
                  <a:pt x="1486979" y="993838"/>
                </a:lnTo>
                <a:lnTo>
                  <a:pt x="1506410" y="1035913"/>
                </a:lnTo>
                <a:lnTo>
                  <a:pt x="1528432" y="1076452"/>
                </a:lnTo>
                <a:lnTo>
                  <a:pt x="1552943" y="1115364"/>
                </a:lnTo>
                <a:lnTo>
                  <a:pt x="1579816" y="1152525"/>
                </a:lnTo>
                <a:lnTo>
                  <a:pt x="1608975" y="1187856"/>
                </a:lnTo>
                <a:lnTo>
                  <a:pt x="1640293" y="1221232"/>
                </a:lnTo>
                <a:lnTo>
                  <a:pt x="1673669" y="1252550"/>
                </a:lnTo>
                <a:lnTo>
                  <a:pt x="1709000" y="1281709"/>
                </a:lnTo>
                <a:lnTo>
                  <a:pt x="1746173" y="1308582"/>
                </a:lnTo>
                <a:lnTo>
                  <a:pt x="1785073" y="1333093"/>
                </a:lnTo>
                <a:lnTo>
                  <a:pt x="1825625" y="1355115"/>
                </a:lnTo>
                <a:lnTo>
                  <a:pt x="1867687" y="1374546"/>
                </a:lnTo>
                <a:lnTo>
                  <a:pt x="1911172" y="1391285"/>
                </a:lnTo>
                <a:lnTo>
                  <a:pt x="1955965" y="1405204"/>
                </a:lnTo>
                <a:lnTo>
                  <a:pt x="2001964" y="1416227"/>
                </a:lnTo>
                <a:lnTo>
                  <a:pt x="2049068" y="1424228"/>
                </a:lnTo>
                <a:lnTo>
                  <a:pt x="2097163" y="1429118"/>
                </a:lnTo>
                <a:lnTo>
                  <a:pt x="2146147" y="1430756"/>
                </a:lnTo>
                <a:lnTo>
                  <a:pt x="2195118" y="1429118"/>
                </a:lnTo>
                <a:lnTo>
                  <a:pt x="2243213" y="1424228"/>
                </a:lnTo>
                <a:lnTo>
                  <a:pt x="2290318" y="1416227"/>
                </a:lnTo>
                <a:lnTo>
                  <a:pt x="2336317" y="1405204"/>
                </a:lnTo>
                <a:lnTo>
                  <a:pt x="2381110" y="1391285"/>
                </a:lnTo>
                <a:lnTo>
                  <a:pt x="2424595" y="1374546"/>
                </a:lnTo>
                <a:lnTo>
                  <a:pt x="2466670" y="1355115"/>
                </a:lnTo>
                <a:lnTo>
                  <a:pt x="2507208" y="1333093"/>
                </a:lnTo>
                <a:lnTo>
                  <a:pt x="2546121" y="1308582"/>
                </a:lnTo>
                <a:lnTo>
                  <a:pt x="2583294" y="1281709"/>
                </a:lnTo>
                <a:lnTo>
                  <a:pt x="2618613" y="1252550"/>
                </a:lnTo>
                <a:lnTo>
                  <a:pt x="2651988" y="1221232"/>
                </a:lnTo>
                <a:lnTo>
                  <a:pt x="2683306" y="1187856"/>
                </a:lnTo>
                <a:lnTo>
                  <a:pt x="2712466" y="1152525"/>
                </a:lnTo>
                <a:lnTo>
                  <a:pt x="2739352" y="1115364"/>
                </a:lnTo>
                <a:lnTo>
                  <a:pt x="2763850" y="1076452"/>
                </a:lnTo>
                <a:lnTo>
                  <a:pt x="2785872" y="1035913"/>
                </a:lnTo>
                <a:lnTo>
                  <a:pt x="2805303" y="993838"/>
                </a:lnTo>
                <a:lnTo>
                  <a:pt x="2822041" y="950353"/>
                </a:lnTo>
                <a:lnTo>
                  <a:pt x="2835973" y="905560"/>
                </a:lnTo>
                <a:lnTo>
                  <a:pt x="2846984" y="859561"/>
                </a:lnTo>
                <a:lnTo>
                  <a:pt x="2854985" y="812457"/>
                </a:lnTo>
                <a:lnTo>
                  <a:pt x="2859875" y="764362"/>
                </a:lnTo>
                <a:lnTo>
                  <a:pt x="2861526" y="715378"/>
                </a:lnTo>
                <a:close/>
              </a:path>
            </a:pathLst>
          </a:custGeom>
          <a:solidFill>
            <a:srgbClr val="1F3A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229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1509</TotalTime>
  <Words>984</Words>
  <Application>Microsoft Office PowerPoint</Application>
  <PresentationFormat>Custom</PresentationFormat>
  <Paragraphs>103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Arial MT</vt:lpstr>
      <vt:lpstr>Bahnschrift</vt:lpstr>
      <vt:lpstr>Calibri</vt:lpstr>
      <vt:lpstr>Roboto Lt</vt:lpstr>
      <vt:lpstr>Trebuchet MS</vt:lpstr>
      <vt:lpstr>Office Theme</vt:lpstr>
      <vt:lpstr>IT Ticket Analysis Project</vt:lpstr>
      <vt:lpstr>PowerPoint Presentation</vt:lpstr>
      <vt:lpstr>Data Overview</vt:lpstr>
      <vt:lpstr>Methodology Overview</vt:lpstr>
      <vt:lpstr>Ticket Volume over time</vt:lpstr>
      <vt:lpstr>Ticket volume over year &amp; months</vt:lpstr>
      <vt:lpstr>Cost-benefit analysis </vt:lpstr>
      <vt:lpstr>Agents need additional training </vt:lpstr>
      <vt:lpstr>Resolution times by request category</vt:lpstr>
      <vt:lpstr>Performance Metrics Before and After System Upgrade(Satisfaction rate)</vt:lpstr>
      <vt:lpstr>Performance Metrics Before and After System Upgrade(Resolution time)</vt:lpstr>
      <vt:lpstr>Trend analysis using time series charts(Satisfaction rate)</vt:lpstr>
      <vt:lpstr>Trend analysis using time series charts(Resolution time)</vt:lpstr>
      <vt:lpstr>Overtime Improvement (Resolution time)</vt:lpstr>
      <vt:lpstr>Overtime Improvement (Satisfaction time)</vt:lpstr>
      <vt:lpstr>Max – Min Ticket resolved  by Agents </vt:lpstr>
      <vt:lpstr>Employee demographics impact on satisfaction and ticket outcomes</vt:lpstr>
      <vt:lpstr>IT support operations based on ticket volumes and satisfaction</vt:lpstr>
      <vt:lpstr>Dashboard and Visualizations  Executive sales Dashboard</vt:lpstr>
      <vt:lpstr>PowerPoint Presentation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IT Ticket Analysis Project</dc:title>
  <dc:creator>hritikkumar200067</dc:creator>
  <cp:keywords>DAG20n3VSSE,BAElSIFUxco,0</cp:keywords>
  <cp:lastModifiedBy>Mr Derek</cp:lastModifiedBy>
  <cp:revision>5</cp:revision>
  <dcterms:created xsi:type="dcterms:W3CDTF">2025-10-25T18:49:31Z</dcterms:created>
  <dcterms:modified xsi:type="dcterms:W3CDTF">2025-11-25T19:42:12Z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2025-10-25T00:00:00Z</vt:filetime>
  </property>
  <property fmtid="{D5CDD505-2E9C-101B-9397-08002B2CF9AE}" pid="3" name="Creator">
    <vt:lpwstr>Canva</vt:lpwstr>
  </property>
  <property fmtid="{D5CDD505-2E9C-101B-9397-08002B2CF9AE}" pid="4" name="LastSaved">
    <vt:filetime>2025-10-25T00:00:00Z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